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A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0"/>
            <a:ext cx="4114800" cy="5143500"/>
          </a:xfrm>
          <a:prstGeom prst="rect">
            <a:avLst/>
          </a:prstGeom>
          <a:solidFill>
            <a:srgbClr val="0A2647"/>
          </a:solidFill>
          <a:ln w="12700">
            <a:solidFill>
              <a:srgbClr val="0A26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0" y="0"/>
            <a:ext cx="64008" cy="5143500"/>
          </a:xfrm>
          <a:prstGeom prst="rect">
            <a:avLst/>
          </a:prstGeom>
          <a:solidFill>
            <a:srgbClr val="00C4E8"/>
          </a:solidFill>
          <a:ln w="12700">
            <a:solidFill>
              <a:srgbClr val="00C4E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303520" y="2743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897880" y="2743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92240" y="2743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086600" y="2743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680960" y="2743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75320" y="2743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303520" y="11887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897880" y="11887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92240" y="11887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086600" y="11887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680960" y="11887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75320" y="11887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303520" y="21031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97880" y="21031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92240" y="21031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086600" y="21031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680960" y="21031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75320" y="21031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303520" y="30175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897880" y="30175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92240" y="30175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086600" y="30175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680960" y="30175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275320" y="30175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303520" y="39319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897880" y="39319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92240" y="39319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086600" y="39319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680960" y="39319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275320" y="39319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-457200" y="-457200"/>
            <a:ext cx="2743200" cy="2743200"/>
          </a:xfrm>
          <a:prstGeom prst="ellipse">
            <a:avLst/>
          </a:prstGeom>
          <a:solidFill>
            <a:srgbClr val="B8E7F5">
              <a:alpha val="40000"/>
            </a:srgbClr>
          </a:solidFill>
          <a:ln w="12700">
            <a:solidFill>
              <a:srgbClr val="B8E7F5">
                <a:alpha val="40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1005840"/>
            <a:ext cx="4389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00336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Resume</a:t>
            </a:r>
            <a:endParaRPr lang="en-US" sz="4600" dirty="0"/>
          </a:p>
        </p:txBody>
      </p:sp>
      <p:sp>
        <p:nvSpPr>
          <p:cNvPr id="36" name="Text 34"/>
          <p:cNvSpPr/>
          <p:nvPr/>
        </p:nvSpPr>
        <p:spPr>
          <a:xfrm>
            <a:off x="457200" y="1828800"/>
            <a:ext cx="4389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0C4E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Screening Agent</a:t>
            </a:r>
            <a:endParaRPr lang="en-US" sz="3600" dirty="0"/>
          </a:p>
        </p:txBody>
      </p:sp>
      <p:sp>
        <p:nvSpPr>
          <p:cNvPr id="37" name="Text 35"/>
          <p:cNvSpPr/>
          <p:nvPr/>
        </p:nvSpPr>
        <p:spPr>
          <a:xfrm>
            <a:off x="457200" y="2633472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0A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(n8n)</a:t>
            </a:r>
            <a:endParaRPr lang="en-US" sz="2200" dirty="0"/>
          </a:p>
        </p:txBody>
      </p:sp>
      <p:sp>
        <p:nvSpPr>
          <p:cNvPr id="38" name="Shape 36"/>
          <p:cNvSpPr/>
          <p:nvPr/>
        </p:nvSpPr>
        <p:spPr>
          <a:xfrm>
            <a:off x="457200" y="3200400"/>
            <a:ext cx="2286000" cy="36576"/>
          </a:xfrm>
          <a:prstGeom prst="rect">
            <a:avLst/>
          </a:prstGeom>
          <a:solidFill>
            <a:srgbClr val="00C4E8"/>
          </a:solidFill>
          <a:ln w="12700">
            <a:solidFill>
              <a:srgbClr val="00C4E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" y="33375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SCTP Agentic AI Capstone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457200" y="37033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 Sylvester Ang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5943600" y="1371600"/>
            <a:ext cx="2286000" cy="2286000"/>
          </a:xfrm>
          <a:prstGeom prst="ellipse">
            <a:avLst/>
          </a:prstGeom>
          <a:solidFill>
            <a:srgbClr val="00C4E8">
              <a:alpha val="20000"/>
            </a:srgbClr>
          </a:solidFill>
          <a:ln w="12700">
            <a:solidFill>
              <a:srgbClr val="00C4E8">
                <a:alpha val="50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166360" y="1645920"/>
            <a:ext cx="3840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0" b="1" dirty="0">
                <a:solidFill>
                  <a:srgbClr val="1A6A9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</a:t>
            </a:r>
            <a:endParaRPr lang="en-US" sz="12000" dirty="0"/>
          </a:p>
        </p:txBody>
      </p:sp>
      <p:sp>
        <p:nvSpPr>
          <p:cNvPr id="43" name="Text 41"/>
          <p:cNvSpPr/>
          <p:nvPr/>
        </p:nvSpPr>
        <p:spPr>
          <a:xfrm>
            <a:off x="5166360" y="43891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8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  ·  Mistral AI  ·  Groq  ·  Google Sheets  ·  Gmail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A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0"/>
            <a:ext cx="4114800" cy="5143500"/>
          </a:xfrm>
          <a:prstGeom prst="rect">
            <a:avLst/>
          </a:prstGeom>
          <a:solidFill>
            <a:srgbClr val="0A2647"/>
          </a:solidFill>
          <a:ln w="12700">
            <a:solidFill>
              <a:srgbClr val="0A26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0" y="0"/>
            <a:ext cx="64008" cy="5143500"/>
          </a:xfrm>
          <a:prstGeom prst="rect">
            <a:avLst/>
          </a:prstGeom>
          <a:solidFill>
            <a:srgbClr val="00C4E8"/>
          </a:solidFill>
          <a:ln w="12700">
            <a:solidFill>
              <a:srgbClr val="00C4E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303520" y="2743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897880" y="2743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92240" y="2743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086600" y="2743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680960" y="2743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75320" y="2743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303520" y="11887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897880" y="11887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92240" y="11887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086600" y="11887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680960" y="11887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75320" y="11887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303520" y="21031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97880" y="21031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92240" y="21031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086600" y="21031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680960" y="21031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75320" y="21031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303520" y="30175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897880" y="30175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92240" y="30175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086600" y="30175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680960" y="30175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275320" y="30175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303520" y="39319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897880" y="39319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92240" y="39319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086600" y="39319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680960" y="39319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275320" y="39319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686800" y="48463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7A99"/>
                </a:solidFill>
              </a:rPr>
              <a:t>2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57200" y="32004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336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Project Objective</a:t>
            </a:r>
            <a:endParaRPr lang="en-US" sz="3400" dirty="0"/>
          </a:p>
        </p:txBody>
      </p:sp>
      <p:sp>
        <p:nvSpPr>
          <p:cNvPr id="36" name="Shape 34"/>
          <p:cNvSpPr/>
          <p:nvPr/>
        </p:nvSpPr>
        <p:spPr>
          <a:xfrm>
            <a:off x="457200" y="1005840"/>
            <a:ext cx="1828800" cy="45720"/>
          </a:xfrm>
          <a:prstGeom prst="rect">
            <a:avLst/>
          </a:prstGeom>
          <a:solidFill>
            <a:srgbClr val="00C4E8"/>
          </a:solidFill>
          <a:ln w="12700">
            <a:solidFill>
              <a:srgbClr val="00C4E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57200" y="1188720"/>
            <a:ext cx="4297680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0EA5E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57200" y="1188720"/>
            <a:ext cx="73152" cy="1371600"/>
          </a:xfrm>
          <a:prstGeom prst="rect">
            <a:avLst/>
          </a:prstGeom>
          <a:solidFill>
            <a:srgbClr val="00C4E8"/>
          </a:solidFill>
          <a:ln w="12700">
            <a:solidFill>
              <a:srgbClr val="00C4E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58368" y="1261872"/>
            <a:ext cx="3977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A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AI-powered resume screening agent using n8n that automates CV analysis and candidate evaluation — reducing manual hiring effort and improving screening accuracy.</a:t>
            </a:r>
            <a:endParaRPr lang="en-US" sz="1350" dirty="0"/>
          </a:p>
        </p:txBody>
      </p:sp>
      <p:sp>
        <p:nvSpPr>
          <p:cNvPr id="40" name="Shape 38"/>
          <p:cNvSpPr/>
          <p:nvPr/>
        </p:nvSpPr>
        <p:spPr>
          <a:xfrm>
            <a:off x="457200" y="2834640"/>
            <a:ext cx="1280160" cy="1737360"/>
          </a:xfrm>
          <a:prstGeom prst="rect">
            <a:avLst/>
          </a:prstGeom>
          <a:solidFill>
            <a:srgbClr val="0A2647"/>
          </a:solidFill>
          <a:ln w="12700">
            <a:solidFill>
              <a:srgbClr val="0A2647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457200" y="324612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457200" y="3584448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8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collection &amp; analysis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1920240" y="2834640"/>
            <a:ext cx="1280160" cy="1737360"/>
          </a:xfrm>
          <a:prstGeom prst="rect">
            <a:avLst/>
          </a:prstGeom>
          <a:solidFill>
            <a:srgbClr val="00C4E8"/>
          </a:solidFill>
          <a:ln w="12700">
            <a:solidFill>
              <a:srgbClr val="00C4E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1920240" y="324612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1920240" y="3584448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8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scoring &amp; ranking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3383280" y="2834640"/>
            <a:ext cx="1280160" cy="1737360"/>
          </a:xfrm>
          <a:prstGeom prst="rect">
            <a:avLst/>
          </a:prstGeom>
          <a:solidFill>
            <a:srgbClr val="0A2647"/>
          </a:solidFill>
          <a:ln w="12700">
            <a:solidFill>
              <a:srgbClr val="0A2647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3383280" y="324612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Notify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3383280" y="3584448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8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results &amp; store data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5212080" y="45720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C4E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 It Matters</a:t>
            </a:r>
            <a:endParaRPr lang="en-US" sz="2000" dirty="0"/>
          </a:p>
        </p:txBody>
      </p:sp>
      <p:sp>
        <p:nvSpPr>
          <p:cNvPr id="50" name="Shape 48"/>
          <p:cNvSpPr/>
          <p:nvPr/>
        </p:nvSpPr>
        <p:spPr>
          <a:xfrm>
            <a:off x="5230368" y="1143000"/>
            <a:ext cx="164592" cy="164592"/>
          </a:xfrm>
          <a:prstGeom prst="ellipse">
            <a:avLst/>
          </a:prstGeom>
          <a:solidFill>
            <a:srgbClr val="00C4E8"/>
          </a:solidFill>
          <a:ln w="12700">
            <a:solidFill>
              <a:srgbClr val="00C4E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532120" y="109728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Eliminates repetitive screening tasks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5230368" y="1920240"/>
            <a:ext cx="164592" cy="164592"/>
          </a:xfrm>
          <a:prstGeom prst="ellipse">
            <a:avLst/>
          </a:prstGeom>
          <a:solidFill>
            <a:srgbClr val="00C4E8"/>
          </a:solidFill>
          <a:ln w="12700">
            <a:solidFill>
              <a:srgbClr val="00C4E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532120" y="187452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Consistent, unbiased evaluation criteria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5230368" y="2697480"/>
            <a:ext cx="164592" cy="164592"/>
          </a:xfrm>
          <a:prstGeom prst="ellipse">
            <a:avLst/>
          </a:prstGeom>
          <a:solidFill>
            <a:srgbClr val="00C4E8"/>
          </a:solidFill>
          <a:ln w="12700">
            <a:solidFill>
              <a:srgbClr val="00C4E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532120" y="265176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candidate scoring &amp; feedback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5230368" y="3474720"/>
            <a:ext cx="164592" cy="164592"/>
          </a:xfrm>
          <a:prstGeom prst="ellipse">
            <a:avLst/>
          </a:prstGeom>
          <a:solidFill>
            <a:srgbClr val="00C4E8"/>
          </a:solidFill>
          <a:ln w="12700">
            <a:solidFill>
              <a:srgbClr val="00C4E8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532120" y="342900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Seamless integration with Google Sheets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A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0"/>
            <a:ext cx="4114800" cy="5143500"/>
          </a:xfrm>
          <a:prstGeom prst="rect">
            <a:avLst/>
          </a:prstGeom>
          <a:solidFill>
            <a:srgbClr val="0A2647"/>
          </a:solidFill>
          <a:ln w="12700">
            <a:solidFill>
              <a:srgbClr val="0A26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0" y="0"/>
            <a:ext cx="64008" cy="5143500"/>
          </a:xfrm>
          <a:prstGeom prst="rect">
            <a:avLst/>
          </a:prstGeom>
          <a:solidFill>
            <a:srgbClr val="00C4E8"/>
          </a:solidFill>
          <a:ln w="12700">
            <a:solidFill>
              <a:srgbClr val="00C4E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303520" y="2743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897880" y="2743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92240" y="2743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086600" y="2743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680960" y="2743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75320" y="2743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303520" y="11887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897880" y="11887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92240" y="11887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086600" y="11887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680960" y="11887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75320" y="11887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303520" y="21031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97880" y="21031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92240" y="21031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086600" y="21031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680960" y="21031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75320" y="21031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303520" y="30175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897880" y="30175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92240" y="30175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086600" y="30175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680960" y="30175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275320" y="30175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303520" y="39319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897880" y="39319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92240" y="39319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086600" y="39319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680960" y="39319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275320" y="39319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686800" y="48463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7A99"/>
                </a:solidFill>
              </a:rPr>
              <a:t>3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57200" y="32004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336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the Agent Can Do</a:t>
            </a:r>
            <a:endParaRPr lang="en-US" sz="3000" dirty="0"/>
          </a:p>
        </p:txBody>
      </p:sp>
      <p:sp>
        <p:nvSpPr>
          <p:cNvPr id="36" name="Shape 34"/>
          <p:cNvSpPr/>
          <p:nvPr/>
        </p:nvSpPr>
        <p:spPr>
          <a:xfrm>
            <a:off x="457200" y="1005840"/>
            <a:ext cx="2286000" cy="45720"/>
          </a:xfrm>
          <a:prstGeom prst="rect">
            <a:avLst/>
          </a:prstGeom>
          <a:solidFill>
            <a:srgbClr val="00C4E8"/>
          </a:solidFill>
          <a:ln w="12700">
            <a:solidFill>
              <a:srgbClr val="00C4E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57200" y="1188720"/>
            <a:ext cx="20574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AF5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57200" y="1188720"/>
            <a:ext cx="64008" cy="1051560"/>
          </a:xfrm>
          <a:prstGeom prst="rect">
            <a:avLst/>
          </a:prstGeom>
          <a:solidFill>
            <a:srgbClr val="00C4E8"/>
          </a:solidFill>
          <a:ln w="12700">
            <a:solidFill>
              <a:srgbClr val="00C4E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94360" y="12618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94360" y="148132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594360" y="17830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name, email &amp; CV via web form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2697480" y="1188720"/>
            <a:ext cx="20574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AF5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2697480" y="1188720"/>
            <a:ext cx="64008" cy="1051560"/>
          </a:xfrm>
          <a:prstGeom prst="rect">
            <a:avLst/>
          </a:prstGeom>
          <a:solidFill>
            <a:srgbClr val="00C4E8"/>
          </a:solidFill>
          <a:ln w="12700">
            <a:solidFill>
              <a:srgbClr val="00C4E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834640" y="12618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2834640" y="148132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2834640" y="17830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parses CV text from PDF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457200" y="2423160"/>
            <a:ext cx="20574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AF5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457200" y="2423160"/>
            <a:ext cx="64008" cy="1051560"/>
          </a:xfrm>
          <a:prstGeom prst="rect">
            <a:avLst/>
          </a:prstGeom>
          <a:solidFill>
            <a:srgbClr val="00C4E8"/>
          </a:solidFill>
          <a:ln w="12700">
            <a:solidFill>
              <a:srgbClr val="00C4E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94360" y="24963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594360" y="271576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594360" y="30175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scores candidate against job requirements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2697480" y="2423160"/>
            <a:ext cx="20574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AF5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2697480" y="2423160"/>
            <a:ext cx="64008" cy="1051560"/>
          </a:xfrm>
          <a:prstGeom prst="rect">
            <a:avLst/>
          </a:prstGeom>
          <a:solidFill>
            <a:srgbClr val="00C4E8"/>
          </a:solidFill>
          <a:ln w="12700">
            <a:solidFill>
              <a:srgbClr val="00C4E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834640" y="24963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2834640" y="271576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</a:t>
            </a:r>
            <a:endParaRPr lang="en-US" sz="1400" dirty="0"/>
          </a:p>
        </p:txBody>
      </p:sp>
      <p:sp>
        <p:nvSpPr>
          <p:cNvPr id="56" name="Text 54"/>
          <p:cNvSpPr/>
          <p:nvPr/>
        </p:nvSpPr>
        <p:spPr>
          <a:xfrm>
            <a:off x="2834640" y="30175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score &gt; 0.6 → PASS, ELSE → FAIL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457200" y="3657600"/>
            <a:ext cx="20574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AF5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457200" y="3657600"/>
            <a:ext cx="64008" cy="1051560"/>
          </a:xfrm>
          <a:prstGeom prst="rect">
            <a:avLst/>
          </a:prstGeom>
          <a:solidFill>
            <a:srgbClr val="00C4E8"/>
          </a:solidFill>
          <a:ln w="12700">
            <a:solidFill>
              <a:srgbClr val="00C4E8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94360" y="37307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594360" y="395020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</a:t>
            </a:r>
            <a:endParaRPr lang="en-US" sz="1400" dirty="0"/>
          </a:p>
        </p:txBody>
      </p:sp>
      <p:sp>
        <p:nvSpPr>
          <p:cNvPr id="61" name="Text 59"/>
          <p:cNvSpPr/>
          <p:nvPr/>
        </p:nvSpPr>
        <p:spPr>
          <a:xfrm>
            <a:off x="594360" y="42519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saved to Google Sheets</a:t>
            </a:r>
            <a:endParaRPr lang="en-US" sz="1050" dirty="0"/>
          </a:p>
        </p:txBody>
      </p:sp>
      <p:sp>
        <p:nvSpPr>
          <p:cNvPr id="62" name="Shape 60"/>
          <p:cNvSpPr/>
          <p:nvPr/>
        </p:nvSpPr>
        <p:spPr>
          <a:xfrm>
            <a:off x="2697480" y="3657600"/>
            <a:ext cx="20574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AF5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63" name="Shape 61"/>
          <p:cNvSpPr/>
          <p:nvPr/>
        </p:nvSpPr>
        <p:spPr>
          <a:xfrm>
            <a:off x="2697480" y="3657600"/>
            <a:ext cx="64008" cy="1051560"/>
          </a:xfrm>
          <a:prstGeom prst="rect">
            <a:avLst/>
          </a:prstGeom>
          <a:solidFill>
            <a:srgbClr val="00C4E8"/>
          </a:solidFill>
          <a:ln w="12700">
            <a:solidFill>
              <a:srgbClr val="00C4E8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2834640" y="37307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2834640" y="395020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Notify</a:t>
            </a:r>
            <a:endParaRPr lang="en-US" sz="1400" dirty="0"/>
          </a:p>
        </p:txBody>
      </p:sp>
      <p:sp>
        <p:nvSpPr>
          <p:cNvPr id="66" name="Text 64"/>
          <p:cNvSpPr/>
          <p:nvPr/>
        </p:nvSpPr>
        <p:spPr>
          <a:xfrm>
            <a:off x="2834640" y="42519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sent with evaluation results</a:t>
            </a:r>
            <a:endParaRPr lang="en-US" sz="1050" dirty="0"/>
          </a:p>
        </p:txBody>
      </p:sp>
      <p:sp>
        <p:nvSpPr>
          <p:cNvPr id="67" name="Text 65"/>
          <p:cNvSpPr/>
          <p:nvPr/>
        </p:nvSpPr>
        <p:spPr>
          <a:xfrm>
            <a:off x="5212080" y="45720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C4E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6-Step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b="1" dirty="0">
                <a:solidFill>
                  <a:srgbClr val="00C4E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Pipeline</a:t>
            </a:r>
            <a:endParaRPr lang="en-US" sz="2800" dirty="0"/>
          </a:p>
        </p:txBody>
      </p:sp>
      <p:sp>
        <p:nvSpPr>
          <p:cNvPr id="68" name="Shape 66"/>
          <p:cNvSpPr/>
          <p:nvPr/>
        </p:nvSpPr>
        <p:spPr>
          <a:xfrm>
            <a:off x="5577840" y="1645920"/>
            <a:ext cx="2560320" cy="384048"/>
          </a:xfrm>
          <a:prstGeom prst="rect">
            <a:avLst/>
          </a:prstGeom>
          <a:solidFill>
            <a:srgbClr val="0A3D6B"/>
          </a:solidFill>
          <a:ln w="12700">
            <a:solidFill>
              <a:srgbClr val="0A3D6B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715000" y="1682496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Form Input</a:t>
            </a:r>
            <a:endParaRPr lang="en-US" sz="1200" dirty="0"/>
          </a:p>
        </p:txBody>
      </p:sp>
      <p:sp>
        <p:nvSpPr>
          <p:cNvPr id="70" name="Shape 68"/>
          <p:cNvSpPr/>
          <p:nvPr/>
        </p:nvSpPr>
        <p:spPr>
          <a:xfrm>
            <a:off x="5577840" y="2194560"/>
            <a:ext cx="2560320" cy="384048"/>
          </a:xfrm>
          <a:prstGeom prst="rect">
            <a:avLst/>
          </a:prstGeom>
          <a:solidFill>
            <a:srgbClr val="0C4F89"/>
          </a:solidFill>
          <a:ln w="12700">
            <a:solidFill>
              <a:srgbClr val="0A3D6B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5715000" y="2231136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OCR Parse</a:t>
            </a:r>
            <a:endParaRPr lang="en-US" sz="1200" dirty="0"/>
          </a:p>
        </p:txBody>
      </p:sp>
      <p:sp>
        <p:nvSpPr>
          <p:cNvPr id="72" name="Shape 70"/>
          <p:cNvSpPr/>
          <p:nvPr/>
        </p:nvSpPr>
        <p:spPr>
          <a:xfrm>
            <a:off x="5577840" y="2743200"/>
            <a:ext cx="2560320" cy="384048"/>
          </a:xfrm>
          <a:prstGeom prst="rect">
            <a:avLst/>
          </a:prstGeom>
          <a:solidFill>
            <a:srgbClr val="0A3D6B"/>
          </a:solidFill>
          <a:ln w="12700">
            <a:solidFill>
              <a:srgbClr val="0A3D6B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5715000" y="2779776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AI Eval</a:t>
            </a:r>
            <a:endParaRPr lang="en-US" sz="1200" dirty="0"/>
          </a:p>
        </p:txBody>
      </p:sp>
      <p:sp>
        <p:nvSpPr>
          <p:cNvPr id="74" name="Shape 72"/>
          <p:cNvSpPr/>
          <p:nvPr/>
        </p:nvSpPr>
        <p:spPr>
          <a:xfrm>
            <a:off x="5577840" y="3291840"/>
            <a:ext cx="2560320" cy="384048"/>
          </a:xfrm>
          <a:prstGeom prst="rect">
            <a:avLst/>
          </a:prstGeom>
          <a:solidFill>
            <a:srgbClr val="0C4F89"/>
          </a:solidFill>
          <a:ln w="12700">
            <a:solidFill>
              <a:srgbClr val="0A3D6B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5715000" y="3328416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IF Logic</a:t>
            </a:r>
            <a:endParaRPr lang="en-US" sz="1200" dirty="0"/>
          </a:p>
        </p:txBody>
      </p:sp>
      <p:sp>
        <p:nvSpPr>
          <p:cNvPr id="76" name="Shape 74"/>
          <p:cNvSpPr/>
          <p:nvPr/>
        </p:nvSpPr>
        <p:spPr>
          <a:xfrm>
            <a:off x="5577840" y="3840480"/>
            <a:ext cx="2560320" cy="384048"/>
          </a:xfrm>
          <a:prstGeom prst="rect">
            <a:avLst/>
          </a:prstGeom>
          <a:solidFill>
            <a:srgbClr val="0A3D6B"/>
          </a:solidFill>
          <a:ln w="12700">
            <a:solidFill>
              <a:srgbClr val="0A3D6B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5715000" y="3877056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Sheets</a:t>
            </a:r>
            <a:endParaRPr lang="en-US" sz="1200" dirty="0"/>
          </a:p>
        </p:txBody>
      </p:sp>
      <p:sp>
        <p:nvSpPr>
          <p:cNvPr id="78" name="Shape 76"/>
          <p:cNvSpPr/>
          <p:nvPr/>
        </p:nvSpPr>
        <p:spPr>
          <a:xfrm>
            <a:off x="5577840" y="4389120"/>
            <a:ext cx="2560320" cy="384048"/>
          </a:xfrm>
          <a:prstGeom prst="rect">
            <a:avLst/>
          </a:prstGeom>
          <a:solidFill>
            <a:srgbClr val="0C4F89"/>
          </a:solidFill>
          <a:ln w="12700">
            <a:solidFill>
              <a:srgbClr val="0A3D6B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5715000" y="4425696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Gmail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A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0"/>
            <a:ext cx="4114800" cy="5143500"/>
          </a:xfrm>
          <a:prstGeom prst="rect">
            <a:avLst/>
          </a:prstGeom>
          <a:solidFill>
            <a:srgbClr val="0A2647"/>
          </a:solidFill>
          <a:ln w="12700">
            <a:solidFill>
              <a:srgbClr val="0A26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0" y="0"/>
            <a:ext cx="64008" cy="5143500"/>
          </a:xfrm>
          <a:prstGeom prst="rect">
            <a:avLst/>
          </a:prstGeom>
          <a:solidFill>
            <a:srgbClr val="00C4E8"/>
          </a:solidFill>
          <a:ln w="12700">
            <a:solidFill>
              <a:srgbClr val="00C4E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303520" y="2743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897880" y="2743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92240" y="2743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086600" y="2743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680960" y="2743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75320" y="2743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303520" y="11887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897880" y="11887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92240" y="11887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086600" y="11887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680960" y="11887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75320" y="11887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303520" y="21031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97880" y="21031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92240" y="21031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086600" y="21031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680960" y="21031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75320" y="21031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303520" y="30175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897880" y="30175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92240" y="30175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086600" y="30175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680960" y="30175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275320" y="30175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303520" y="39319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897880" y="39319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92240" y="39319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086600" y="39319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680960" y="39319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275320" y="39319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686800" y="48463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7A99"/>
                </a:solidFill>
              </a:rPr>
              <a:t>4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57200" y="201168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36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Workflow Overview</a:t>
            </a:r>
            <a:endParaRPr lang="en-US" sz="2800" dirty="0"/>
          </a:p>
        </p:txBody>
      </p:sp>
      <p:sp>
        <p:nvSpPr>
          <p:cNvPr id="36" name="Shape 34"/>
          <p:cNvSpPr/>
          <p:nvPr/>
        </p:nvSpPr>
        <p:spPr>
          <a:xfrm>
            <a:off x="365760" y="822960"/>
            <a:ext cx="4526280" cy="3337560"/>
          </a:xfrm>
          <a:prstGeom prst="rect">
            <a:avLst/>
          </a:prstGeom>
          <a:solidFill>
            <a:srgbClr val="D0EAF5"/>
          </a:solidFill>
          <a:ln w="12700">
            <a:solidFill>
              <a:srgbClr val="0EA5E9"/>
            </a:solidFill>
            <a:prstDash val="solid"/>
          </a:ln>
        </p:spPr>
      </p:sp>
      <p:pic>
        <p:nvPicPr>
          <p:cNvPr id="3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11480" y="868680"/>
            <a:ext cx="4434840" cy="3246120"/>
          </a:xfrm>
          <a:prstGeom prst="rect">
            <a:avLst/>
          </a:prstGeom>
        </p:spPr>
      </p:pic>
      <p:sp>
        <p:nvSpPr>
          <p:cNvPr id="38" name="Text 35"/>
          <p:cNvSpPr/>
          <p:nvPr/>
        </p:nvSpPr>
        <p:spPr>
          <a:xfrm>
            <a:off x="411480" y="4206240"/>
            <a:ext cx="4434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→ OCR → AI Qualify → IF → Sheets + Email</a:t>
            </a:r>
            <a:endParaRPr lang="en-US" sz="1100" dirty="0"/>
          </a:p>
        </p:txBody>
      </p:sp>
      <p:sp>
        <p:nvSpPr>
          <p:cNvPr id="39" name="Text 36"/>
          <p:cNvSpPr/>
          <p:nvPr/>
        </p:nvSpPr>
        <p:spPr>
          <a:xfrm>
            <a:off x="5212080" y="4572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C4E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Flow Summary</a:t>
            </a:r>
            <a:endParaRPr lang="en-US" sz="2000" dirty="0"/>
          </a:p>
        </p:txBody>
      </p:sp>
      <p:sp>
        <p:nvSpPr>
          <p:cNvPr id="40" name="Shape 37"/>
          <p:cNvSpPr/>
          <p:nvPr/>
        </p:nvSpPr>
        <p:spPr>
          <a:xfrm>
            <a:off x="5230368" y="1005840"/>
            <a:ext cx="137160" cy="137160"/>
          </a:xfrm>
          <a:prstGeom prst="ellipse">
            <a:avLst/>
          </a:prstGeom>
          <a:solidFill>
            <a:srgbClr val="00C4E8"/>
          </a:solidFill>
          <a:ln w="12700">
            <a:solidFill>
              <a:srgbClr val="00C4E8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5486400" y="9601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 orchestrates all workflow steps</a:t>
            </a:r>
            <a:endParaRPr lang="en-US" sz="1150" dirty="0"/>
          </a:p>
        </p:txBody>
      </p:sp>
      <p:sp>
        <p:nvSpPr>
          <p:cNvPr id="42" name="Shape 39"/>
          <p:cNvSpPr/>
          <p:nvPr/>
        </p:nvSpPr>
        <p:spPr>
          <a:xfrm>
            <a:off x="5230368" y="1645920"/>
            <a:ext cx="137160" cy="137160"/>
          </a:xfrm>
          <a:prstGeom prst="ellipse">
            <a:avLst/>
          </a:prstGeom>
          <a:solidFill>
            <a:srgbClr val="00C4E8"/>
          </a:solidFill>
          <a:ln w="12700">
            <a:solidFill>
              <a:srgbClr val="00C4E8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5486400" y="160020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 OCR extracts CV text from PDF</a:t>
            </a:r>
            <a:endParaRPr lang="en-US" sz="1150" dirty="0"/>
          </a:p>
        </p:txBody>
      </p:sp>
      <p:sp>
        <p:nvSpPr>
          <p:cNvPr id="44" name="Shape 41"/>
          <p:cNvSpPr/>
          <p:nvPr/>
        </p:nvSpPr>
        <p:spPr>
          <a:xfrm>
            <a:off x="5230368" y="2286000"/>
            <a:ext cx="137160" cy="137160"/>
          </a:xfrm>
          <a:prstGeom prst="ellipse">
            <a:avLst/>
          </a:prstGeom>
          <a:solidFill>
            <a:srgbClr val="00C4E8"/>
          </a:solidFill>
          <a:ln w="12700">
            <a:solidFill>
              <a:srgbClr val="00C4E8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5486400" y="22402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LLM evaluates candidate suitability</a:t>
            </a:r>
            <a:endParaRPr lang="en-US" sz="1150" dirty="0"/>
          </a:p>
        </p:txBody>
      </p:sp>
      <p:sp>
        <p:nvSpPr>
          <p:cNvPr id="46" name="Shape 43"/>
          <p:cNvSpPr/>
          <p:nvPr/>
        </p:nvSpPr>
        <p:spPr>
          <a:xfrm>
            <a:off x="5230368" y="2926080"/>
            <a:ext cx="137160" cy="137160"/>
          </a:xfrm>
          <a:prstGeom prst="ellipse">
            <a:avLst/>
          </a:prstGeom>
          <a:solidFill>
            <a:srgbClr val="00C4E8"/>
          </a:solidFill>
          <a:ln w="12700">
            <a:solidFill>
              <a:srgbClr val="00C4E8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5486400" y="28803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node routes PASS/FAIL candidates</a:t>
            </a:r>
            <a:endParaRPr lang="en-US" sz="1150" dirty="0"/>
          </a:p>
        </p:txBody>
      </p:sp>
      <p:sp>
        <p:nvSpPr>
          <p:cNvPr id="48" name="Shape 45"/>
          <p:cNvSpPr/>
          <p:nvPr/>
        </p:nvSpPr>
        <p:spPr>
          <a:xfrm>
            <a:off x="5230368" y="3566160"/>
            <a:ext cx="137160" cy="137160"/>
          </a:xfrm>
          <a:prstGeom prst="ellipse">
            <a:avLst/>
          </a:prstGeom>
          <a:solidFill>
            <a:srgbClr val="00C4E8"/>
          </a:solidFill>
          <a:ln w="12700">
            <a:solidFill>
              <a:srgbClr val="00C4E8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5486400" y="35204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→ Google Sheets + Gmail notify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A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0"/>
            <a:ext cx="4114800" cy="5143500"/>
          </a:xfrm>
          <a:prstGeom prst="rect">
            <a:avLst/>
          </a:prstGeom>
          <a:solidFill>
            <a:srgbClr val="0A2647"/>
          </a:solidFill>
          <a:ln w="12700">
            <a:solidFill>
              <a:srgbClr val="0A26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0" y="0"/>
            <a:ext cx="64008" cy="5143500"/>
          </a:xfrm>
          <a:prstGeom prst="rect">
            <a:avLst/>
          </a:prstGeom>
          <a:solidFill>
            <a:srgbClr val="00C4E8"/>
          </a:solidFill>
          <a:ln w="12700">
            <a:solidFill>
              <a:srgbClr val="00C4E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303520" y="2743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897880" y="2743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92240" y="2743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086600" y="2743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680960" y="2743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75320" y="2743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303520" y="11887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897880" y="11887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92240" y="11887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086600" y="11887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680960" y="11887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75320" y="11887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303520" y="21031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97880" y="21031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92240" y="21031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086600" y="21031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680960" y="21031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75320" y="21031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303520" y="30175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897880" y="30175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92240" y="30175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086600" y="30175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680960" y="30175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275320" y="30175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303520" y="39319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897880" y="39319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92240" y="39319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086600" y="39319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680960" y="39319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275320" y="39319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686800" y="48463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7A99"/>
                </a:solidFill>
              </a:rPr>
              <a:t>5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20040" y="164592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336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Input → Processing → Output</a:t>
            </a:r>
            <a:endParaRPr lang="en-US" sz="2400" dirty="0"/>
          </a:p>
        </p:txBody>
      </p:sp>
      <p:sp>
        <p:nvSpPr>
          <p:cNvPr id="36" name="Shape 34"/>
          <p:cNvSpPr/>
          <p:nvPr/>
        </p:nvSpPr>
        <p:spPr>
          <a:xfrm>
            <a:off x="274320" y="731520"/>
            <a:ext cx="2240280" cy="1920240"/>
          </a:xfrm>
          <a:prstGeom prst="rect">
            <a:avLst/>
          </a:prstGeom>
          <a:solidFill>
            <a:srgbClr val="D0EAF5"/>
          </a:solidFill>
          <a:ln w="12700">
            <a:solidFill>
              <a:srgbClr val="0EA5E9"/>
            </a:solidFill>
            <a:prstDash val="solid"/>
          </a:ln>
        </p:spPr>
      </p:sp>
      <p:pic>
        <p:nvPicPr>
          <p:cNvPr id="3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0040" y="777240"/>
            <a:ext cx="2148840" cy="1828800"/>
          </a:xfrm>
          <a:prstGeom prst="rect">
            <a:avLst/>
          </a:prstGeom>
        </p:spPr>
      </p:pic>
      <p:sp>
        <p:nvSpPr>
          <p:cNvPr id="38" name="Shape 35"/>
          <p:cNvSpPr/>
          <p:nvPr/>
        </p:nvSpPr>
        <p:spPr>
          <a:xfrm>
            <a:off x="2496312" y="731520"/>
            <a:ext cx="2304288" cy="1920240"/>
          </a:xfrm>
          <a:prstGeom prst="rect">
            <a:avLst/>
          </a:prstGeom>
          <a:solidFill>
            <a:srgbClr val="D0EAF5"/>
          </a:solidFill>
          <a:ln w="12700">
            <a:solidFill>
              <a:srgbClr val="0EA5E9"/>
            </a:solidFill>
            <a:prstDash val="solid"/>
          </a:ln>
        </p:spPr>
      </p:sp>
      <p:pic>
        <p:nvPicPr>
          <p:cNvPr id="39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542032" y="777240"/>
            <a:ext cx="2212848" cy="1828800"/>
          </a:xfrm>
          <a:prstGeom prst="rect">
            <a:avLst/>
          </a:prstGeom>
        </p:spPr>
      </p:pic>
      <p:sp>
        <p:nvSpPr>
          <p:cNvPr id="40" name="Text 36"/>
          <p:cNvSpPr/>
          <p:nvPr/>
        </p:nvSpPr>
        <p:spPr>
          <a:xfrm>
            <a:off x="320040" y="2670048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Web Form</a:t>
            </a:r>
            <a:endParaRPr lang="en-US" sz="1000" dirty="0"/>
          </a:p>
        </p:txBody>
      </p:sp>
      <p:sp>
        <p:nvSpPr>
          <p:cNvPr id="41" name="Text 37"/>
          <p:cNvSpPr/>
          <p:nvPr/>
        </p:nvSpPr>
        <p:spPr>
          <a:xfrm>
            <a:off x="2542032" y="2670048"/>
            <a:ext cx="2212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Processing: OCR + AI</a:t>
            </a:r>
            <a:endParaRPr lang="en-US" sz="1000" dirty="0"/>
          </a:p>
        </p:txBody>
      </p:sp>
      <p:sp>
        <p:nvSpPr>
          <p:cNvPr id="42" name="Shape 38"/>
          <p:cNvSpPr/>
          <p:nvPr/>
        </p:nvSpPr>
        <p:spPr>
          <a:xfrm>
            <a:off x="320040" y="3108960"/>
            <a:ext cx="1417320" cy="347472"/>
          </a:xfrm>
          <a:prstGeom prst="rect">
            <a:avLst/>
          </a:prstGeom>
          <a:solidFill>
            <a:srgbClr val="0A4A7A"/>
          </a:solidFill>
          <a:ln w="12700">
            <a:solidFill>
              <a:srgbClr val="0A4A7A"/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320040" y="310896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100" dirty="0"/>
          </a:p>
        </p:txBody>
      </p:sp>
      <p:sp>
        <p:nvSpPr>
          <p:cNvPr id="44" name="Shape 40"/>
          <p:cNvSpPr/>
          <p:nvPr/>
        </p:nvSpPr>
        <p:spPr>
          <a:xfrm>
            <a:off x="320040" y="3547872"/>
            <a:ext cx="14173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AF5"/>
            </a:solidFill>
            <a:prstDash val="solid"/>
          </a:ln>
        </p:spPr>
      </p:sp>
      <p:sp>
        <p:nvSpPr>
          <p:cNvPr id="45" name="Text 41"/>
          <p:cNvSpPr/>
          <p:nvPr/>
        </p:nvSpPr>
        <p:spPr>
          <a:xfrm>
            <a:off x="365760" y="356616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Email, CV</a:t>
            </a:r>
            <a:endParaRPr lang="en-US" sz="1000" dirty="0"/>
          </a:p>
        </p:txBody>
      </p:sp>
      <p:sp>
        <p:nvSpPr>
          <p:cNvPr id="46" name="Shape 42"/>
          <p:cNvSpPr/>
          <p:nvPr/>
        </p:nvSpPr>
        <p:spPr>
          <a:xfrm>
            <a:off x="320040" y="4050792"/>
            <a:ext cx="14173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AF5"/>
            </a:solidFill>
            <a:prstDash val="solid"/>
          </a:ln>
        </p:spPr>
      </p:sp>
      <p:sp>
        <p:nvSpPr>
          <p:cNvPr id="47" name="Text 43"/>
          <p:cNvSpPr/>
          <p:nvPr/>
        </p:nvSpPr>
        <p:spPr>
          <a:xfrm>
            <a:off x="365760" y="406908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n8n web form</a:t>
            </a:r>
            <a:endParaRPr lang="en-US" sz="1000" dirty="0"/>
          </a:p>
        </p:txBody>
      </p:sp>
      <p:sp>
        <p:nvSpPr>
          <p:cNvPr id="48" name="Shape 44"/>
          <p:cNvSpPr/>
          <p:nvPr/>
        </p:nvSpPr>
        <p:spPr>
          <a:xfrm>
            <a:off x="320040" y="4553712"/>
            <a:ext cx="14173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AF5"/>
            </a:solidFill>
            <a:prstDash val="solid"/>
          </a:ln>
        </p:spPr>
      </p:sp>
      <p:sp>
        <p:nvSpPr>
          <p:cNvPr id="49" name="Text 45"/>
          <p:cNvSpPr/>
          <p:nvPr/>
        </p:nvSpPr>
        <p:spPr>
          <a:xfrm>
            <a:off x="365760" y="457200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upload</a:t>
            </a:r>
            <a:endParaRPr lang="en-US" sz="1000" dirty="0"/>
          </a:p>
        </p:txBody>
      </p:sp>
      <p:sp>
        <p:nvSpPr>
          <p:cNvPr id="50" name="Shape 46"/>
          <p:cNvSpPr/>
          <p:nvPr/>
        </p:nvSpPr>
        <p:spPr>
          <a:xfrm>
            <a:off x="1892808" y="3108960"/>
            <a:ext cx="1417320" cy="347472"/>
          </a:xfrm>
          <a:prstGeom prst="rect">
            <a:avLst/>
          </a:prstGeom>
          <a:solidFill>
            <a:srgbClr val="00C4E8"/>
          </a:solidFill>
          <a:ln w="12700">
            <a:solidFill>
              <a:srgbClr val="00C4E8"/>
            </a:solidFill>
            <a:prstDash val="solid"/>
          </a:ln>
        </p:spPr>
      </p:sp>
      <p:sp>
        <p:nvSpPr>
          <p:cNvPr id="51" name="Text 47"/>
          <p:cNvSpPr/>
          <p:nvPr/>
        </p:nvSpPr>
        <p:spPr>
          <a:xfrm>
            <a:off x="1892808" y="310896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1100" dirty="0"/>
          </a:p>
        </p:txBody>
      </p:sp>
      <p:sp>
        <p:nvSpPr>
          <p:cNvPr id="52" name="Shape 48"/>
          <p:cNvSpPr/>
          <p:nvPr/>
        </p:nvSpPr>
        <p:spPr>
          <a:xfrm>
            <a:off x="1892808" y="3547872"/>
            <a:ext cx="14173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AF5"/>
            </a:solidFill>
            <a:prstDash val="solid"/>
          </a:ln>
        </p:spPr>
      </p:sp>
      <p:sp>
        <p:nvSpPr>
          <p:cNvPr id="53" name="Text 49"/>
          <p:cNvSpPr/>
          <p:nvPr/>
        </p:nvSpPr>
        <p:spPr>
          <a:xfrm>
            <a:off x="1938528" y="356616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→ text</a:t>
            </a:r>
            <a:endParaRPr lang="en-US" sz="1000" dirty="0"/>
          </a:p>
        </p:txBody>
      </p:sp>
      <p:sp>
        <p:nvSpPr>
          <p:cNvPr id="54" name="Shape 50"/>
          <p:cNvSpPr/>
          <p:nvPr/>
        </p:nvSpPr>
        <p:spPr>
          <a:xfrm>
            <a:off x="1892808" y="4050792"/>
            <a:ext cx="14173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AF5"/>
            </a:solidFill>
            <a:prstDash val="solid"/>
          </a:ln>
        </p:spPr>
      </p:sp>
      <p:sp>
        <p:nvSpPr>
          <p:cNvPr id="55" name="Text 51"/>
          <p:cNvSpPr/>
          <p:nvPr/>
        </p:nvSpPr>
        <p:spPr>
          <a:xfrm>
            <a:off x="1938528" y="406908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scores 0–1</a:t>
            </a:r>
            <a:endParaRPr lang="en-US" sz="1000" dirty="0"/>
          </a:p>
        </p:txBody>
      </p:sp>
      <p:sp>
        <p:nvSpPr>
          <p:cNvPr id="56" name="Shape 52"/>
          <p:cNvSpPr/>
          <p:nvPr/>
        </p:nvSpPr>
        <p:spPr>
          <a:xfrm>
            <a:off x="1892808" y="4553712"/>
            <a:ext cx="14173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AF5"/>
            </a:solidFill>
            <a:prstDash val="solid"/>
          </a:ln>
        </p:spPr>
      </p:sp>
      <p:sp>
        <p:nvSpPr>
          <p:cNvPr id="57" name="Text 53"/>
          <p:cNvSpPr/>
          <p:nvPr/>
        </p:nvSpPr>
        <p:spPr>
          <a:xfrm>
            <a:off x="1938528" y="457200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output</a:t>
            </a:r>
            <a:endParaRPr lang="en-US" sz="1000" dirty="0"/>
          </a:p>
        </p:txBody>
      </p:sp>
      <p:sp>
        <p:nvSpPr>
          <p:cNvPr id="58" name="Shape 54"/>
          <p:cNvSpPr/>
          <p:nvPr/>
        </p:nvSpPr>
        <p:spPr>
          <a:xfrm>
            <a:off x="3465576" y="3108960"/>
            <a:ext cx="1417320" cy="347472"/>
          </a:xfrm>
          <a:prstGeom prst="rect">
            <a:avLst/>
          </a:prstGeom>
          <a:solidFill>
            <a:srgbClr val="0A5C36"/>
          </a:solidFill>
          <a:ln w="12700">
            <a:solidFill>
              <a:srgbClr val="0A5C36"/>
            </a:solidFill>
            <a:prstDash val="solid"/>
          </a:ln>
        </p:spPr>
      </p:sp>
      <p:sp>
        <p:nvSpPr>
          <p:cNvPr id="59" name="Text 55"/>
          <p:cNvSpPr/>
          <p:nvPr/>
        </p:nvSpPr>
        <p:spPr>
          <a:xfrm>
            <a:off x="3465576" y="310896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100" dirty="0"/>
          </a:p>
        </p:txBody>
      </p:sp>
      <p:sp>
        <p:nvSpPr>
          <p:cNvPr id="60" name="Shape 56"/>
          <p:cNvSpPr/>
          <p:nvPr/>
        </p:nvSpPr>
        <p:spPr>
          <a:xfrm>
            <a:off x="3465576" y="3547872"/>
            <a:ext cx="14173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AF5"/>
            </a:solidFill>
            <a:prstDash val="solid"/>
          </a:ln>
        </p:spPr>
      </p:sp>
      <p:sp>
        <p:nvSpPr>
          <p:cNvPr id="61" name="Text 57"/>
          <p:cNvSpPr/>
          <p:nvPr/>
        </p:nvSpPr>
        <p:spPr>
          <a:xfrm>
            <a:off x="3511296" y="356616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/ FAIL</a:t>
            </a:r>
            <a:endParaRPr lang="en-US" sz="1000" dirty="0"/>
          </a:p>
        </p:txBody>
      </p:sp>
      <p:sp>
        <p:nvSpPr>
          <p:cNvPr id="62" name="Shape 58"/>
          <p:cNvSpPr/>
          <p:nvPr/>
        </p:nvSpPr>
        <p:spPr>
          <a:xfrm>
            <a:off x="3465576" y="4050792"/>
            <a:ext cx="14173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AF5"/>
            </a:solidFill>
            <a:prstDash val="solid"/>
          </a:ln>
        </p:spPr>
      </p:sp>
      <p:sp>
        <p:nvSpPr>
          <p:cNvPr id="63" name="Text 59"/>
          <p:cNvSpPr/>
          <p:nvPr/>
        </p:nvSpPr>
        <p:spPr>
          <a:xfrm>
            <a:off x="3511296" y="406908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Sheets entry</a:t>
            </a:r>
            <a:endParaRPr lang="en-US" sz="1000" dirty="0"/>
          </a:p>
        </p:txBody>
      </p:sp>
      <p:sp>
        <p:nvSpPr>
          <p:cNvPr id="64" name="Shape 60"/>
          <p:cNvSpPr/>
          <p:nvPr/>
        </p:nvSpPr>
        <p:spPr>
          <a:xfrm>
            <a:off x="3465576" y="4553712"/>
            <a:ext cx="14173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AF5"/>
            </a:solidFill>
            <a:prstDash val="solid"/>
          </a:ln>
        </p:spPr>
      </p:sp>
      <p:sp>
        <p:nvSpPr>
          <p:cNvPr id="65" name="Text 61"/>
          <p:cNvSpPr/>
          <p:nvPr/>
        </p:nvSpPr>
        <p:spPr>
          <a:xfrm>
            <a:off x="3511296" y="457200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Gmail sent</a:t>
            </a:r>
            <a:endParaRPr lang="en-US" sz="1000" dirty="0"/>
          </a:p>
        </p:txBody>
      </p:sp>
      <p:sp>
        <p:nvSpPr>
          <p:cNvPr id="66" name="Text 62"/>
          <p:cNvSpPr/>
          <p:nvPr/>
        </p:nvSpPr>
        <p:spPr>
          <a:xfrm>
            <a:off x="5212080" y="4572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C4E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 Flow</a:t>
            </a:r>
            <a:endParaRPr lang="en-US" sz="2000" dirty="0"/>
          </a:p>
        </p:txBody>
      </p:sp>
      <p:sp>
        <p:nvSpPr>
          <p:cNvPr id="67" name="Text 63"/>
          <p:cNvSpPr/>
          <p:nvPr/>
        </p:nvSpPr>
        <p:spPr>
          <a:xfrm>
            <a:off x="5230368" y="11887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8" name="Text 64"/>
          <p:cNvSpPr/>
          <p:nvPr/>
        </p:nvSpPr>
        <p:spPr>
          <a:xfrm>
            <a:off x="5623560" y="11887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Form → n8n trigger</a:t>
            </a:r>
            <a:endParaRPr lang="en-US" sz="1200" dirty="0"/>
          </a:p>
        </p:txBody>
      </p:sp>
      <p:sp>
        <p:nvSpPr>
          <p:cNvPr id="69" name="Text 65"/>
          <p:cNvSpPr/>
          <p:nvPr/>
        </p:nvSpPr>
        <p:spPr>
          <a:xfrm>
            <a:off x="5230368" y="185623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70" name="Text 66"/>
          <p:cNvSpPr/>
          <p:nvPr/>
        </p:nvSpPr>
        <p:spPr>
          <a:xfrm>
            <a:off x="5623560" y="185623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→ Mistral OCR → text</a:t>
            </a:r>
            <a:endParaRPr lang="en-US" sz="1200" dirty="0"/>
          </a:p>
        </p:txBody>
      </p:sp>
      <p:sp>
        <p:nvSpPr>
          <p:cNvPr id="71" name="Text 67"/>
          <p:cNvSpPr/>
          <p:nvPr/>
        </p:nvSpPr>
        <p:spPr>
          <a:xfrm>
            <a:off x="5230368" y="252374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72" name="Text 68"/>
          <p:cNvSpPr/>
          <p:nvPr/>
        </p:nvSpPr>
        <p:spPr>
          <a:xfrm>
            <a:off x="5623560" y="2523744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→ Groq LLM → JSON score</a:t>
            </a:r>
            <a:endParaRPr lang="en-US" sz="1200" dirty="0"/>
          </a:p>
        </p:txBody>
      </p:sp>
      <p:sp>
        <p:nvSpPr>
          <p:cNvPr id="73" name="Text 69"/>
          <p:cNvSpPr/>
          <p:nvPr/>
        </p:nvSpPr>
        <p:spPr>
          <a:xfrm>
            <a:off x="5230368" y="319125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74" name="Text 70"/>
          <p:cNvSpPr/>
          <p:nvPr/>
        </p:nvSpPr>
        <p:spPr>
          <a:xfrm>
            <a:off x="5623560" y="3191256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→ IF node → route</a:t>
            </a:r>
            <a:endParaRPr lang="en-US" sz="1200" dirty="0"/>
          </a:p>
        </p:txBody>
      </p:sp>
      <p:sp>
        <p:nvSpPr>
          <p:cNvPr id="75" name="Text 71"/>
          <p:cNvSpPr/>
          <p:nvPr/>
        </p:nvSpPr>
        <p:spPr>
          <a:xfrm>
            <a:off x="5230368" y="385876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76" name="Text 72"/>
          <p:cNvSpPr/>
          <p:nvPr/>
        </p:nvSpPr>
        <p:spPr>
          <a:xfrm>
            <a:off x="5623560" y="385876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→ Sheets + Email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A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0"/>
            <a:ext cx="4114800" cy="5143500"/>
          </a:xfrm>
          <a:prstGeom prst="rect">
            <a:avLst/>
          </a:prstGeom>
          <a:solidFill>
            <a:srgbClr val="0A2647"/>
          </a:solidFill>
          <a:ln w="12700">
            <a:solidFill>
              <a:srgbClr val="0A26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0" y="0"/>
            <a:ext cx="64008" cy="5143500"/>
          </a:xfrm>
          <a:prstGeom prst="rect">
            <a:avLst/>
          </a:prstGeom>
          <a:solidFill>
            <a:srgbClr val="00C4E8"/>
          </a:solidFill>
          <a:ln w="12700">
            <a:solidFill>
              <a:srgbClr val="00C4E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303520" y="2743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897880" y="2743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92240" y="2743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086600" y="2743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680960" y="2743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75320" y="2743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303520" y="11887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897880" y="11887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92240" y="11887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086600" y="11887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680960" y="11887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75320" y="11887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303520" y="21031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97880" y="21031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92240" y="21031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086600" y="21031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680960" y="21031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75320" y="21031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303520" y="30175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897880" y="30175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92240" y="30175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086600" y="30175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680960" y="30175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275320" y="30175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303520" y="39319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897880" y="39319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92240" y="39319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086600" y="39319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680960" y="39319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275320" y="39319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686800" y="48463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7A99"/>
                </a:solidFill>
              </a:rPr>
              <a:t>6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57200" y="201168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336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Decision Logic</a:t>
            </a:r>
            <a:endParaRPr lang="en-US" sz="3000" dirty="0"/>
          </a:p>
        </p:txBody>
      </p:sp>
      <p:sp>
        <p:nvSpPr>
          <p:cNvPr id="36" name="Shape 34"/>
          <p:cNvSpPr/>
          <p:nvPr/>
        </p:nvSpPr>
        <p:spPr>
          <a:xfrm>
            <a:off x="411480" y="795528"/>
            <a:ext cx="4498848" cy="2377440"/>
          </a:xfrm>
          <a:prstGeom prst="rect">
            <a:avLst/>
          </a:prstGeom>
          <a:solidFill>
            <a:srgbClr val="D0EAF5"/>
          </a:solidFill>
          <a:ln w="12700">
            <a:solidFill>
              <a:srgbClr val="0EA5E9"/>
            </a:solidFill>
            <a:prstDash val="solid"/>
          </a:ln>
        </p:spPr>
      </p:sp>
      <p:pic>
        <p:nvPicPr>
          <p:cNvPr id="3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841248"/>
            <a:ext cx="4407408" cy="2286000"/>
          </a:xfrm>
          <a:prstGeom prst="rect">
            <a:avLst/>
          </a:prstGeom>
        </p:spPr>
      </p:pic>
      <p:sp>
        <p:nvSpPr>
          <p:cNvPr id="38" name="Shape 35"/>
          <p:cNvSpPr/>
          <p:nvPr/>
        </p:nvSpPr>
        <p:spPr>
          <a:xfrm>
            <a:off x="457200" y="3273552"/>
            <a:ext cx="2011680" cy="1508760"/>
          </a:xfrm>
          <a:prstGeom prst="rect">
            <a:avLst/>
          </a:prstGeom>
          <a:solidFill>
            <a:srgbClr val="EAF8F0"/>
          </a:solidFill>
          <a:ln w="25400">
            <a:solidFill>
              <a:srgbClr val="27AE60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457200" y="3273552"/>
            <a:ext cx="2011680" cy="45720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457200" y="327355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PASS  (score &gt; 0.6)</a:t>
            </a:r>
            <a:endParaRPr lang="en-US" sz="1100" dirty="0"/>
          </a:p>
        </p:txBody>
      </p:sp>
      <p:sp>
        <p:nvSpPr>
          <p:cNvPr id="41" name="Text 38"/>
          <p:cNvSpPr/>
          <p:nvPr/>
        </p:nvSpPr>
        <p:spPr>
          <a:xfrm>
            <a:off x="548640" y="379476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to Google Sheets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PASS email</a:t>
            </a:r>
            <a:endParaRPr lang="en-US" sz="1100" dirty="0"/>
          </a:p>
        </p:txBody>
      </p:sp>
      <p:sp>
        <p:nvSpPr>
          <p:cNvPr id="42" name="Shape 39"/>
          <p:cNvSpPr/>
          <p:nvPr/>
        </p:nvSpPr>
        <p:spPr>
          <a:xfrm>
            <a:off x="2743200" y="3273552"/>
            <a:ext cx="2011680" cy="1508760"/>
          </a:xfrm>
          <a:prstGeom prst="rect">
            <a:avLst/>
          </a:prstGeom>
          <a:solidFill>
            <a:srgbClr val="FDF0F0"/>
          </a:solidFill>
          <a:ln w="25400">
            <a:solidFill>
              <a:srgbClr val="E74C3C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2743200" y="3273552"/>
            <a:ext cx="2011680" cy="45720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2743200" y="327355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FAIL  (score ≤ 0.6)</a:t>
            </a:r>
            <a:endParaRPr lang="en-US" sz="1100" dirty="0"/>
          </a:p>
        </p:txBody>
      </p:sp>
      <p:sp>
        <p:nvSpPr>
          <p:cNvPr id="45" name="Text 42"/>
          <p:cNvSpPr/>
          <p:nvPr/>
        </p:nvSpPr>
        <p:spPr>
          <a:xfrm>
            <a:off x="2834640" y="379476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rejection email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Sheets entry</a:t>
            </a:r>
            <a:endParaRPr lang="en-US" sz="1100" dirty="0"/>
          </a:p>
        </p:txBody>
      </p:sp>
      <p:sp>
        <p:nvSpPr>
          <p:cNvPr id="46" name="Text 43"/>
          <p:cNvSpPr/>
          <p:nvPr/>
        </p:nvSpPr>
        <p:spPr>
          <a:xfrm>
            <a:off x="5212080" y="4572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C4E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Scoring Logic</a:t>
            </a:r>
            <a:endParaRPr lang="en-US" sz="2000" dirty="0"/>
          </a:p>
        </p:txBody>
      </p:sp>
      <p:sp>
        <p:nvSpPr>
          <p:cNvPr id="47" name="Shape 44"/>
          <p:cNvSpPr/>
          <p:nvPr/>
        </p:nvSpPr>
        <p:spPr>
          <a:xfrm>
            <a:off x="5230368" y="1143000"/>
            <a:ext cx="137160" cy="137160"/>
          </a:xfrm>
          <a:prstGeom prst="ellipse">
            <a:avLst/>
          </a:prstGeom>
          <a:solidFill>
            <a:srgbClr val="00C4E8"/>
          </a:solidFill>
          <a:ln w="12700">
            <a:solidFill>
              <a:srgbClr val="00C4E8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5486400" y="109728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LLM returns JSON with score field</a:t>
            </a:r>
            <a:endParaRPr lang="en-US" sz="1150" dirty="0"/>
          </a:p>
        </p:txBody>
      </p:sp>
      <p:sp>
        <p:nvSpPr>
          <p:cNvPr id="49" name="Shape 46"/>
          <p:cNvSpPr/>
          <p:nvPr/>
        </p:nvSpPr>
        <p:spPr>
          <a:xfrm>
            <a:off x="5230368" y="1874520"/>
            <a:ext cx="137160" cy="137160"/>
          </a:xfrm>
          <a:prstGeom prst="ellipse">
            <a:avLst/>
          </a:prstGeom>
          <a:solidFill>
            <a:srgbClr val="00C4E8"/>
          </a:solidFill>
          <a:ln w="12700">
            <a:solidFill>
              <a:srgbClr val="00C4E8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5486400" y="182880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is a float between 0.0 and 1.0</a:t>
            </a:r>
            <a:endParaRPr lang="en-US" sz="1150" dirty="0"/>
          </a:p>
        </p:txBody>
      </p:sp>
      <p:sp>
        <p:nvSpPr>
          <p:cNvPr id="51" name="Shape 48"/>
          <p:cNvSpPr/>
          <p:nvPr/>
        </p:nvSpPr>
        <p:spPr>
          <a:xfrm>
            <a:off x="5230368" y="2606040"/>
            <a:ext cx="137160" cy="137160"/>
          </a:xfrm>
          <a:prstGeom prst="ellipse">
            <a:avLst/>
          </a:prstGeom>
          <a:solidFill>
            <a:srgbClr val="00C4E8"/>
          </a:solidFill>
          <a:ln w="12700">
            <a:solidFill>
              <a:srgbClr val="00C4E8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5486400" y="256032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 is the qualification threshold</a:t>
            </a:r>
            <a:endParaRPr lang="en-US" sz="1150" dirty="0"/>
          </a:p>
        </p:txBody>
      </p:sp>
      <p:sp>
        <p:nvSpPr>
          <p:cNvPr id="53" name="Shape 50"/>
          <p:cNvSpPr/>
          <p:nvPr/>
        </p:nvSpPr>
        <p:spPr>
          <a:xfrm>
            <a:off x="5230368" y="3337560"/>
            <a:ext cx="137160" cy="137160"/>
          </a:xfrm>
          <a:prstGeom prst="ellipse">
            <a:avLst/>
          </a:prstGeom>
          <a:solidFill>
            <a:srgbClr val="00C4E8"/>
          </a:solidFill>
          <a:ln w="12700">
            <a:solidFill>
              <a:srgbClr val="00C4E8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5486400" y="329184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 IF node routes based on score</a:t>
            </a:r>
            <a:endParaRPr lang="en-US" sz="1150" dirty="0"/>
          </a:p>
        </p:txBody>
      </p:sp>
      <p:sp>
        <p:nvSpPr>
          <p:cNvPr id="55" name="Shape 52"/>
          <p:cNvSpPr/>
          <p:nvPr/>
        </p:nvSpPr>
        <p:spPr>
          <a:xfrm>
            <a:off x="5230368" y="4069080"/>
            <a:ext cx="137160" cy="137160"/>
          </a:xfrm>
          <a:prstGeom prst="ellipse">
            <a:avLst/>
          </a:prstGeom>
          <a:solidFill>
            <a:srgbClr val="00C4E8"/>
          </a:solidFill>
          <a:ln w="12700">
            <a:solidFill>
              <a:srgbClr val="00C4E8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5486400" y="402336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branches trigger automated actions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A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0"/>
            <a:ext cx="4114800" cy="5143500"/>
          </a:xfrm>
          <a:prstGeom prst="rect">
            <a:avLst/>
          </a:prstGeom>
          <a:solidFill>
            <a:srgbClr val="0A2647"/>
          </a:solidFill>
          <a:ln w="12700">
            <a:solidFill>
              <a:srgbClr val="0A26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0" y="0"/>
            <a:ext cx="64008" cy="5143500"/>
          </a:xfrm>
          <a:prstGeom prst="rect">
            <a:avLst/>
          </a:prstGeom>
          <a:solidFill>
            <a:srgbClr val="00C4E8"/>
          </a:solidFill>
          <a:ln w="12700">
            <a:solidFill>
              <a:srgbClr val="00C4E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303520" y="2743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897880" y="2743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92240" y="2743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086600" y="2743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680960" y="2743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75320" y="2743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303520" y="11887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897880" y="11887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92240" y="11887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086600" y="11887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680960" y="11887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75320" y="11887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303520" y="21031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97880" y="21031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92240" y="21031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086600" y="21031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680960" y="21031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75320" y="21031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303520" y="30175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897880" y="30175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92240" y="30175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086600" y="30175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680960" y="30175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275320" y="30175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303520" y="39319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897880" y="39319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92240" y="39319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086600" y="39319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680960" y="39319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275320" y="39319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686800" y="48463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7A99"/>
                </a:solidFill>
              </a:rPr>
              <a:t>7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57200" y="201168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36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Prompt &amp; Instructions</a:t>
            </a:r>
            <a:endParaRPr lang="en-US" sz="2800" dirty="0"/>
          </a:p>
        </p:txBody>
      </p:sp>
      <p:sp>
        <p:nvSpPr>
          <p:cNvPr id="36" name="Shape 34"/>
          <p:cNvSpPr/>
          <p:nvPr/>
        </p:nvSpPr>
        <p:spPr>
          <a:xfrm>
            <a:off x="411480" y="795528"/>
            <a:ext cx="4498848" cy="2834640"/>
          </a:xfrm>
          <a:prstGeom prst="rect">
            <a:avLst/>
          </a:prstGeom>
          <a:solidFill>
            <a:srgbClr val="D0EAF5"/>
          </a:solidFill>
          <a:ln w="12700">
            <a:solidFill>
              <a:srgbClr val="0EA5E9"/>
            </a:solidFill>
            <a:prstDash val="solid"/>
          </a:ln>
        </p:spPr>
      </p:sp>
      <p:pic>
        <p:nvPicPr>
          <p:cNvPr id="3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841248"/>
            <a:ext cx="4407408" cy="2743200"/>
          </a:xfrm>
          <a:prstGeom prst="rect">
            <a:avLst/>
          </a:prstGeom>
        </p:spPr>
      </p:pic>
      <p:sp>
        <p:nvSpPr>
          <p:cNvPr id="38" name="Shape 35"/>
          <p:cNvSpPr/>
          <p:nvPr/>
        </p:nvSpPr>
        <p:spPr>
          <a:xfrm>
            <a:off x="457200" y="3703320"/>
            <a:ext cx="4407408" cy="1097280"/>
          </a:xfrm>
          <a:prstGeom prst="rect">
            <a:avLst/>
          </a:prstGeom>
          <a:solidFill>
            <a:srgbClr val="0D1F33"/>
          </a:solidFill>
          <a:ln w="19050">
            <a:solidFill>
              <a:srgbClr val="00C4E8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594360" y="3749040"/>
            <a:ext cx="4114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"qualificationRate": 0.8, "explanation": "Strong match..." }</a:t>
            </a:r>
            <a:endParaRPr lang="en-US" sz="1050" dirty="0"/>
          </a:p>
        </p:txBody>
      </p:sp>
      <p:sp>
        <p:nvSpPr>
          <p:cNvPr id="40" name="Text 37"/>
          <p:cNvSpPr/>
          <p:nvPr/>
        </p:nvSpPr>
        <p:spPr>
          <a:xfrm>
            <a:off x="5212080" y="4572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C4E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Prompt Design</a:t>
            </a:r>
            <a:endParaRPr lang="en-US" sz="2000" dirty="0"/>
          </a:p>
        </p:txBody>
      </p:sp>
      <p:sp>
        <p:nvSpPr>
          <p:cNvPr id="41" name="Shape 38"/>
          <p:cNvSpPr/>
          <p:nvPr/>
        </p:nvSpPr>
        <p:spPr>
          <a:xfrm>
            <a:off x="5230368" y="1143000"/>
            <a:ext cx="137160" cy="137160"/>
          </a:xfrm>
          <a:prstGeom prst="ellipse">
            <a:avLst/>
          </a:prstGeom>
          <a:solidFill>
            <a:srgbClr val="00C4E8"/>
          </a:solidFill>
          <a:ln w="12700">
            <a:solidFill>
              <a:srgbClr val="00C4E8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5486400" y="109728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recruiter AI persona</a:t>
            </a:r>
            <a:endParaRPr lang="en-US" sz="1150" dirty="0"/>
          </a:p>
        </p:txBody>
      </p:sp>
      <p:sp>
        <p:nvSpPr>
          <p:cNvPr id="43" name="Shape 40"/>
          <p:cNvSpPr/>
          <p:nvPr/>
        </p:nvSpPr>
        <p:spPr>
          <a:xfrm>
            <a:off x="5230368" y="1874520"/>
            <a:ext cx="137160" cy="137160"/>
          </a:xfrm>
          <a:prstGeom prst="ellipse">
            <a:avLst/>
          </a:prstGeom>
          <a:solidFill>
            <a:srgbClr val="00C4E8"/>
          </a:solidFill>
          <a:ln w="12700">
            <a:solidFill>
              <a:srgbClr val="00C4E8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5486400" y="182880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Evaluates CV vs job requirements</a:t>
            </a:r>
            <a:endParaRPr lang="en-US" sz="1150" dirty="0"/>
          </a:p>
        </p:txBody>
      </p:sp>
      <p:sp>
        <p:nvSpPr>
          <p:cNvPr id="45" name="Shape 42"/>
          <p:cNvSpPr/>
          <p:nvPr/>
        </p:nvSpPr>
        <p:spPr>
          <a:xfrm>
            <a:off x="5230368" y="2606040"/>
            <a:ext cx="137160" cy="137160"/>
          </a:xfrm>
          <a:prstGeom prst="ellipse">
            <a:avLst/>
          </a:prstGeom>
          <a:solidFill>
            <a:srgbClr val="00C4E8"/>
          </a:solidFill>
          <a:ln w="12700">
            <a:solidFill>
              <a:srgbClr val="00C4E8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5486400" y="256032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qualificationRate (0–1)</a:t>
            </a:r>
            <a:endParaRPr lang="en-US" sz="1150" dirty="0"/>
          </a:p>
        </p:txBody>
      </p:sp>
      <p:sp>
        <p:nvSpPr>
          <p:cNvPr id="47" name="Shape 44"/>
          <p:cNvSpPr/>
          <p:nvPr/>
        </p:nvSpPr>
        <p:spPr>
          <a:xfrm>
            <a:off x="5230368" y="3337560"/>
            <a:ext cx="137160" cy="137160"/>
          </a:xfrm>
          <a:prstGeom prst="ellipse">
            <a:avLst/>
          </a:prstGeom>
          <a:solidFill>
            <a:srgbClr val="00C4E8"/>
          </a:solidFill>
          <a:ln w="12700">
            <a:solidFill>
              <a:srgbClr val="00C4E8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5486400" y="329184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 for every decision</a:t>
            </a:r>
            <a:endParaRPr lang="en-US" sz="1150" dirty="0"/>
          </a:p>
        </p:txBody>
      </p:sp>
      <p:sp>
        <p:nvSpPr>
          <p:cNvPr id="49" name="Shape 46"/>
          <p:cNvSpPr/>
          <p:nvPr/>
        </p:nvSpPr>
        <p:spPr>
          <a:xfrm>
            <a:off x="5230368" y="4069080"/>
            <a:ext cx="137160" cy="137160"/>
          </a:xfrm>
          <a:prstGeom prst="ellipse">
            <a:avLst/>
          </a:prstGeom>
          <a:solidFill>
            <a:srgbClr val="00C4E8"/>
          </a:solidFill>
          <a:ln w="12700">
            <a:solidFill>
              <a:srgbClr val="00C4E8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5486400" y="402336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Chat Model with JSON parser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A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0"/>
            <a:ext cx="4114800" cy="5143500"/>
          </a:xfrm>
          <a:prstGeom prst="rect">
            <a:avLst/>
          </a:prstGeom>
          <a:solidFill>
            <a:srgbClr val="0A2647"/>
          </a:solidFill>
          <a:ln w="12700">
            <a:solidFill>
              <a:srgbClr val="0A26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0" y="0"/>
            <a:ext cx="64008" cy="5143500"/>
          </a:xfrm>
          <a:prstGeom prst="rect">
            <a:avLst/>
          </a:prstGeom>
          <a:solidFill>
            <a:srgbClr val="00C4E8"/>
          </a:solidFill>
          <a:ln w="12700">
            <a:solidFill>
              <a:srgbClr val="00C4E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303520" y="2743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897880" y="2743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92240" y="2743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086600" y="2743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680960" y="2743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75320" y="2743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303520" y="11887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897880" y="11887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92240" y="11887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086600" y="11887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680960" y="11887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75320" y="11887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303520" y="21031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97880" y="21031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92240" y="21031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086600" y="21031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680960" y="21031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75320" y="21031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303520" y="30175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897880" y="30175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92240" y="30175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086600" y="30175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680960" y="30175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275320" y="30175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303520" y="39319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897880" y="39319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92240" y="39319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086600" y="39319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680960" y="39319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275320" y="39319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686800" y="48463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7A99"/>
                </a:solidFill>
              </a:rPr>
              <a:t>8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57200" y="201168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6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Output</a:t>
            </a:r>
            <a:endParaRPr lang="en-US" sz="3200" dirty="0"/>
          </a:p>
        </p:txBody>
      </p:sp>
      <p:sp>
        <p:nvSpPr>
          <p:cNvPr id="36" name="Shape 34"/>
          <p:cNvSpPr/>
          <p:nvPr/>
        </p:nvSpPr>
        <p:spPr>
          <a:xfrm>
            <a:off x="411480" y="795528"/>
            <a:ext cx="4498848" cy="2697480"/>
          </a:xfrm>
          <a:prstGeom prst="rect">
            <a:avLst/>
          </a:prstGeom>
          <a:solidFill>
            <a:srgbClr val="D0EAF5"/>
          </a:solidFill>
          <a:ln w="12700">
            <a:solidFill>
              <a:srgbClr val="0EA5E9"/>
            </a:solidFill>
            <a:prstDash val="solid"/>
          </a:ln>
        </p:spPr>
      </p:sp>
      <p:pic>
        <p:nvPicPr>
          <p:cNvPr id="3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841248"/>
            <a:ext cx="4407408" cy="2606040"/>
          </a:xfrm>
          <a:prstGeom prst="rect">
            <a:avLst/>
          </a:prstGeom>
        </p:spPr>
      </p:pic>
      <p:sp>
        <p:nvSpPr>
          <p:cNvPr id="38" name="Text 35"/>
          <p:cNvSpPr/>
          <p:nvPr/>
        </p:nvSpPr>
        <p:spPr>
          <a:xfrm>
            <a:off x="457200" y="3547872"/>
            <a:ext cx="4407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stored in Google Sheets + Email sent to candidate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4041648"/>
            <a:ext cx="20574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AF5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457200" y="4041648"/>
            <a:ext cx="64008" cy="868680"/>
          </a:xfrm>
          <a:prstGeom prst="rect">
            <a:avLst/>
          </a:prstGeom>
          <a:solidFill>
            <a:srgbClr val="1DA462"/>
          </a:solidFill>
          <a:ln w="12700">
            <a:solidFill>
              <a:srgbClr val="1DA462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594360" y="409651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Sheets</a:t>
            </a:r>
            <a:endParaRPr lang="en-US" sz="1300" dirty="0"/>
          </a:p>
        </p:txBody>
      </p:sp>
      <p:sp>
        <p:nvSpPr>
          <p:cNvPr id="42" name="Text 39"/>
          <p:cNvSpPr/>
          <p:nvPr/>
        </p:nvSpPr>
        <p:spPr>
          <a:xfrm>
            <a:off x="594360" y="441655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log storage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2697480" y="4041648"/>
            <a:ext cx="20574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AF5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2697480" y="4041648"/>
            <a:ext cx="64008" cy="868680"/>
          </a:xfrm>
          <a:prstGeom prst="rect">
            <a:avLst/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2834640" y="409651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Gmail API</a:t>
            </a:r>
            <a:endParaRPr lang="en-US" sz="1300" dirty="0"/>
          </a:p>
        </p:txBody>
      </p:sp>
      <p:sp>
        <p:nvSpPr>
          <p:cNvPr id="46" name="Text 43"/>
          <p:cNvSpPr/>
          <p:nvPr/>
        </p:nvSpPr>
        <p:spPr>
          <a:xfrm>
            <a:off x="2834640" y="441655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email delivery</a:t>
            </a:r>
            <a:endParaRPr lang="en-US" sz="1000" dirty="0"/>
          </a:p>
        </p:txBody>
      </p:sp>
      <p:sp>
        <p:nvSpPr>
          <p:cNvPr id="47" name="Text 44"/>
          <p:cNvSpPr/>
          <p:nvPr/>
        </p:nvSpPr>
        <p:spPr>
          <a:xfrm>
            <a:off x="5212080" y="4572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C4E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Output Details</a:t>
            </a:r>
            <a:endParaRPr lang="en-US" sz="2000" dirty="0"/>
          </a:p>
        </p:txBody>
      </p:sp>
      <p:sp>
        <p:nvSpPr>
          <p:cNvPr id="48" name="Shape 45"/>
          <p:cNvSpPr/>
          <p:nvPr/>
        </p:nvSpPr>
        <p:spPr>
          <a:xfrm>
            <a:off x="5230368" y="1143000"/>
            <a:ext cx="137160" cy="137160"/>
          </a:xfrm>
          <a:prstGeom prst="ellipse">
            <a:avLst/>
          </a:prstGeom>
          <a:solidFill>
            <a:srgbClr val="00C4E8"/>
          </a:solidFill>
          <a:ln w="12700">
            <a:solidFill>
              <a:srgbClr val="00C4E8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5486400" y="109728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Qualified candidates logged in Sheets</a:t>
            </a:r>
            <a:endParaRPr lang="en-US" sz="1150" dirty="0"/>
          </a:p>
        </p:txBody>
      </p:sp>
      <p:sp>
        <p:nvSpPr>
          <p:cNvPr id="50" name="Shape 47"/>
          <p:cNvSpPr/>
          <p:nvPr/>
        </p:nvSpPr>
        <p:spPr>
          <a:xfrm>
            <a:off x="5230368" y="1874520"/>
            <a:ext cx="137160" cy="137160"/>
          </a:xfrm>
          <a:prstGeom prst="ellipse">
            <a:avLst/>
          </a:prstGeom>
          <a:solidFill>
            <a:srgbClr val="00C4E8"/>
          </a:solidFill>
          <a:ln w="12700">
            <a:solidFill>
              <a:srgbClr val="00C4E8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5486400" y="182880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+ qualification rate + description</a:t>
            </a:r>
            <a:endParaRPr lang="en-US" sz="1150" dirty="0"/>
          </a:p>
        </p:txBody>
      </p:sp>
      <p:sp>
        <p:nvSpPr>
          <p:cNvPr id="52" name="Shape 49"/>
          <p:cNvSpPr/>
          <p:nvPr/>
        </p:nvSpPr>
        <p:spPr>
          <a:xfrm>
            <a:off x="5230368" y="2606040"/>
            <a:ext cx="137160" cy="137160"/>
          </a:xfrm>
          <a:prstGeom prst="ellipse">
            <a:avLst/>
          </a:prstGeom>
          <a:solidFill>
            <a:srgbClr val="00C4E8"/>
          </a:solidFill>
          <a:ln w="12700">
            <a:solidFill>
              <a:srgbClr val="00C4E8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5486400" y="256032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 candidates notified by email</a:t>
            </a:r>
            <a:endParaRPr lang="en-US" sz="1150" dirty="0"/>
          </a:p>
        </p:txBody>
      </p:sp>
      <p:sp>
        <p:nvSpPr>
          <p:cNvPr id="54" name="Shape 51"/>
          <p:cNvSpPr/>
          <p:nvPr/>
        </p:nvSpPr>
        <p:spPr>
          <a:xfrm>
            <a:off x="5230368" y="3337560"/>
            <a:ext cx="137160" cy="137160"/>
          </a:xfrm>
          <a:prstGeom prst="ellipse">
            <a:avLst/>
          </a:prstGeom>
          <a:solidFill>
            <a:srgbClr val="00C4E8"/>
          </a:solidFill>
          <a:ln w="12700">
            <a:solidFill>
              <a:srgbClr val="00C4E8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5486400" y="329184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results timestamped and stored</a:t>
            </a:r>
            <a:endParaRPr lang="en-US" sz="1150" dirty="0"/>
          </a:p>
        </p:txBody>
      </p:sp>
      <p:sp>
        <p:nvSpPr>
          <p:cNvPr id="56" name="Shape 53"/>
          <p:cNvSpPr/>
          <p:nvPr/>
        </p:nvSpPr>
        <p:spPr>
          <a:xfrm>
            <a:off x="5230368" y="4069080"/>
            <a:ext cx="137160" cy="137160"/>
          </a:xfrm>
          <a:prstGeom prst="ellipse">
            <a:avLst/>
          </a:prstGeom>
          <a:solidFill>
            <a:srgbClr val="00C4E8"/>
          </a:solidFill>
          <a:ln w="12700">
            <a:solidFill>
              <a:srgbClr val="00C4E8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5486400" y="402336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manual data entry required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A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0"/>
            <a:ext cx="4114800" cy="5143500"/>
          </a:xfrm>
          <a:prstGeom prst="rect">
            <a:avLst/>
          </a:prstGeom>
          <a:solidFill>
            <a:srgbClr val="0A2647"/>
          </a:solidFill>
          <a:ln w="12700">
            <a:solidFill>
              <a:srgbClr val="0A26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0" y="0"/>
            <a:ext cx="64008" cy="5143500"/>
          </a:xfrm>
          <a:prstGeom prst="rect">
            <a:avLst/>
          </a:prstGeom>
          <a:solidFill>
            <a:srgbClr val="00C4E8"/>
          </a:solidFill>
          <a:ln w="12700">
            <a:solidFill>
              <a:srgbClr val="00C4E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303520" y="2743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897880" y="2743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92240" y="2743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086600" y="2743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680960" y="2743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75320" y="2743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303520" y="11887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897880" y="11887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92240" y="11887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086600" y="11887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680960" y="11887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75320" y="11887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303520" y="21031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97880" y="21031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92240" y="21031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086600" y="21031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680960" y="21031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75320" y="21031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303520" y="30175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897880" y="30175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92240" y="30175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086600" y="30175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680960" y="30175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275320" y="30175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303520" y="39319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897880" y="39319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92240" y="39319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086600" y="39319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680960" y="39319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275320" y="39319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686800" y="48463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7A99"/>
                </a:solidFill>
              </a:rPr>
              <a:t>9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57200" y="274320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6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Tools Used</a:t>
            </a:r>
            <a:endParaRPr lang="en-US" sz="3200" dirty="0"/>
          </a:p>
        </p:txBody>
      </p:sp>
      <p:sp>
        <p:nvSpPr>
          <p:cNvPr id="36" name="Shape 34"/>
          <p:cNvSpPr/>
          <p:nvPr/>
        </p:nvSpPr>
        <p:spPr>
          <a:xfrm>
            <a:off x="457200" y="1051560"/>
            <a:ext cx="19659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AF5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57200" y="1051560"/>
            <a:ext cx="64008" cy="1051560"/>
          </a:xfrm>
          <a:prstGeom prst="rect">
            <a:avLst/>
          </a:prstGeom>
          <a:solidFill>
            <a:srgbClr val="EF6C00"/>
          </a:solidFill>
          <a:ln w="12700">
            <a:solidFill>
              <a:srgbClr val="EF6C0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94360" y="1188720"/>
            <a:ext cx="320040" cy="320040"/>
          </a:xfrm>
          <a:prstGeom prst="rect">
            <a:avLst/>
          </a:prstGeom>
          <a:solidFill>
            <a:srgbClr val="EF6C00"/>
          </a:solidFill>
          <a:ln w="12700">
            <a:solidFill>
              <a:srgbClr val="EF6C0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05840" y="114300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1005840" y="155448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Orchestration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2606040" y="1051560"/>
            <a:ext cx="19659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AF5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2606040" y="1051560"/>
            <a:ext cx="64008" cy="1051560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743200" y="1188720"/>
            <a:ext cx="320040" cy="320040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154680" y="114300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 AI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3154680" y="155448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— CV Text Extraction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457200" y="2331720"/>
            <a:ext cx="19659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AF5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457200" y="2331720"/>
            <a:ext cx="64008" cy="1051560"/>
          </a:xfrm>
          <a:prstGeom prst="rect">
            <a:avLst/>
          </a:prstGeom>
          <a:solidFill>
            <a:srgbClr val="0A6EBD"/>
          </a:solidFill>
          <a:ln w="12700">
            <a:solidFill>
              <a:srgbClr val="0A6EBD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94360" y="2468880"/>
            <a:ext cx="320040" cy="320040"/>
          </a:xfrm>
          <a:prstGeom prst="rect">
            <a:avLst/>
          </a:prstGeom>
          <a:solidFill>
            <a:srgbClr val="0A6EBD"/>
          </a:solidFill>
          <a:ln w="12700">
            <a:solidFill>
              <a:srgbClr val="0A6EB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005840" y="242316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/ LLM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1005840" y="283464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Evaluation Engine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2606040" y="2331720"/>
            <a:ext cx="19659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AF5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2606040" y="2331720"/>
            <a:ext cx="64008" cy="1051560"/>
          </a:xfrm>
          <a:prstGeom prst="rect">
            <a:avLst/>
          </a:prstGeom>
          <a:solidFill>
            <a:srgbClr val="1DA462"/>
          </a:solidFill>
          <a:ln w="12700">
            <a:solidFill>
              <a:srgbClr val="1DA46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2743200" y="2468880"/>
            <a:ext cx="320040" cy="320040"/>
          </a:xfrm>
          <a:prstGeom prst="rect">
            <a:avLst/>
          </a:prstGeom>
          <a:solidFill>
            <a:srgbClr val="1DA462"/>
          </a:solidFill>
          <a:ln w="12700">
            <a:solidFill>
              <a:srgbClr val="1DA462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154680" y="242316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Sheets</a:t>
            </a:r>
            <a:endParaRPr lang="en-US" sz="1400" dirty="0"/>
          </a:p>
        </p:txBody>
      </p:sp>
      <p:sp>
        <p:nvSpPr>
          <p:cNvPr id="55" name="Text 53"/>
          <p:cNvSpPr/>
          <p:nvPr/>
        </p:nvSpPr>
        <p:spPr>
          <a:xfrm>
            <a:off x="3154680" y="283464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Data Storage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457200" y="3611880"/>
            <a:ext cx="42519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AF5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457200" y="3611880"/>
            <a:ext cx="64008" cy="1051560"/>
          </a:xfrm>
          <a:prstGeom prst="rect">
            <a:avLst/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594360" y="3749040"/>
            <a:ext cx="320040" cy="320040"/>
          </a:xfrm>
          <a:prstGeom prst="rect">
            <a:avLst/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005840" y="370332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Gmail API</a:t>
            </a:r>
            <a:endParaRPr lang="en-US" sz="1400" dirty="0"/>
          </a:p>
        </p:txBody>
      </p:sp>
      <p:sp>
        <p:nvSpPr>
          <p:cNvPr id="60" name="Text 58"/>
          <p:cNvSpPr/>
          <p:nvPr/>
        </p:nvSpPr>
        <p:spPr>
          <a:xfrm>
            <a:off x="1005840" y="411480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Email Delivery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5212080" y="4572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C4E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Tech Stack</a:t>
            </a:r>
            <a:endParaRPr lang="en-US" sz="2000" dirty="0"/>
          </a:p>
        </p:txBody>
      </p:sp>
      <p:sp>
        <p:nvSpPr>
          <p:cNvPr id="62" name="Text 60"/>
          <p:cNvSpPr/>
          <p:nvPr/>
        </p:nvSpPr>
        <p:spPr>
          <a:xfrm>
            <a:off x="5212080" y="105156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tool plays a specific role in the AI screening pipeline.</a:t>
            </a:r>
            <a:endParaRPr lang="en-US" sz="1300" dirty="0"/>
          </a:p>
        </p:txBody>
      </p:sp>
      <p:sp>
        <p:nvSpPr>
          <p:cNvPr id="63" name="Shape 61"/>
          <p:cNvSpPr/>
          <p:nvPr/>
        </p:nvSpPr>
        <p:spPr>
          <a:xfrm>
            <a:off x="5760720" y="2468880"/>
            <a:ext cx="2011680" cy="2011680"/>
          </a:xfrm>
          <a:prstGeom prst="ellipse">
            <a:avLst/>
          </a:prstGeom>
          <a:solidFill>
            <a:srgbClr val="00C4E8">
              <a:alpha val="90000"/>
            </a:srgbClr>
          </a:solidFill>
          <a:ln w="12700">
            <a:solidFill>
              <a:srgbClr val="00C4E8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760720" y="2514600"/>
            <a:ext cx="20116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26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0A26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Tools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0A26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Integrated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A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0"/>
            <a:ext cx="4114800" cy="5143500"/>
          </a:xfrm>
          <a:prstGeom prst="rect">
            <a:avLst/>
          </a:prstGeom>
          <a:solidFill>
            <a:srgbClr val="0A2647"/>
          </a:solidFill>
          <a:ln w="12700">
            <a:solidFill>
              <a:srgbClr val="0A26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0" y="0"/>
            <a:ext cx="64008" cy="5143500"/>
          </a:xfrm>
          <a:prstGeom prst="rect">
            <a:avLst/>
          </a:prstGeom>
          <a:solidFill>
            <a:srgbClr val="00C4E8"/>
          </a:solidFill>
          <a:ln w="12700">
            <a:solidFill>
              <a:srgbClr val="00C4E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303520" y="2743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897880" y="2743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92240" y="2743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086600" y="2743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680960" y="2743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75320" y="2743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303520" y="11887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897880" y="11887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92240" y="11887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086600" y="11887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680960" y="11887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75320" y="11887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303520" y="21031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97880" y="21031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92240" y="21031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086600" y="21031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680960" y="21031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75320" y="21031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303520" y="30175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897880" y="30175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92240" y="30175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086600" y="30175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680960" y="30175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275320" y="30175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303520" y="39319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897880" y="39319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92240" y="39319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086600" y="39319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680960" y="39319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275320" y="39319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686800" y="48463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7A99"/>
                </a:solidFill>
              </a:rPr>
              <a:t>10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57200" y="274320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36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Challenges &amp; Solutions</a:t>
            </a:r>
            <a:endParaRPr lang="en-US" sz="2800" dirty="0"/>
          </a:p>
        </p:txBody>
      </p:sp>
      <p:sp>
        <p:nvSpPr>
          <p:cNvPr id="36" name="Shape 34"/>
          <p:cNvSpPr/>
          <p:nvPr/>
        </p:nvSpPr>
        <p:spPr>
          <a:xfrm>
            <a:off x="457200" y="1097280"/>
            <a:ext cx="1920240" cy="1554480"/>
          </a:xfrm>
          <a:prstGeom prst="rect">
            <a:avLst/>
          </a:prstGeom>
          <a:solidFill>
            <a:srgbClr val="FDF0F0"/>
          </a:solidFill>
          <a:ln w="19050">
            <a:solidFill>
              <a:srgbClr val="E74C3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57200" y="1097280"/>
            <a:ext cx="1920240" cy="41148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10972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Challenge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48640" y="15544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Looping Issue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548640" y="1901952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 workflow was processing candidates in unexpected loops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2423160" y="1828800"/>
            <a:ext cx="457200" cy="64008"/>
          </a:xfrm>
          <a:prstGeom prst="rect">
            <a:avLst/>
          </a:prstGeom>
          <a:solidFill>
            <a:srgbClr val="00C4E8"/>
          </a:solidFill>
          <a:ln w="12700">
            <a:solidFill>
              <a:srgbClr val="00C4E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926080" y="1097280"/>
            <a:ext cx="1828800" cy="1554480"/>
          </a:xfrm>
          <a:prstGeom prst="rect">
            <a:avLst/>
          </a:prstGeom>
          <a:solidFill>
            <a:srgbClr val="EAF8F0"/>
          </a:solidFill>
          <a:ln w="19050">
            <a:solidFill>
              <a:srgbClr val="27AE6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926080" y="1097280"/>
            <a:ext cx="1828800" cy="41148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926080" y="10972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Solution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3017520" y="15544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7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Filter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3017520" y="1901952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deduplication logic and loop-break conditions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457200" y="3017520"/>
            <a:ext cx="1920240" cy="1554480"/>
          </a:xfrm>
          <a:prstGeom prst="rect">
            <a:avLst/>
          </a:prstGeom>
          <a:solidFill>
            <a:srgbClr val="FDF0F0"/>
          </a:solidFill>
          <a:ln w="19050">
            <a:solidFill>
              <a:srgbClr val="E74C3C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57200" y="3017520"/>
            <a:ext cx="1920240" cy="41148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57200" y="301752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Challenge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548640" y="34747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Rate Limits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548640" y="3822192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and Mistral API calls hitting rate limit thresholds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2423160" y="3749040"/>
            <a:ext cx="457200" cy="64008"/>
          </a:xfrm>
          <a:prstGeom prst="rect">
            <a:avLst/>
          </a:prstGeom>
          <a:solidFill>
            <a:srgbClr val="00C4E8"/>
          </a:solidFill>
          <a:ln w="12700">
            <a:solidFill>
              <a:srgbClr val="00C4E8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2926080" y="3017520"/>
            <a:ext cx="1828800" cy="1554480"/>
          </a:xfrm>
          <a:prstGeom prst="rect">
            <a:avLst/>
          </a:prstGeom>
          <a:solidFill>
            <a:srgbClr val="EAF8F0"/>
          </a:solidFill>
          <a:ln w="19050">
            <a:solidFill>
              <a:srgbClr val="27AE6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2926080" y="3017520"/>
            <a:ext cx="1828800" cy="41148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926080" y="30175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Solution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3017520" y="34747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7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Tuning</a:t>
            </a:r>
            <a:endParaRPr lang="en-US" sz="1300" dirty="0"/>
          </a:p>
        </p:txBody>
      </p:sp>
      <p:sp>
        <p:nvSpPr>
          <p:cNvPr id="57" name="Text 55"/>
          <p:cNvSpPr/>
          <p:nvPr/>
        </p:nvSpPr>
        <p:spPr>
          <a:xfrm>
            <a:off x="3017520" y="3822192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Optimised prompts for efficiency; added retry &amp; delay nodes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5212080" y="4572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C4E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Learnings</a:t>
            </a:r>
            <a:endParaRPr lang="en-US" sz="2000" dirty="0"/>
          </a:p>
        </p:txBody>
      </p:sp>
      <p:sp>
        <p:nvSpPr>
          <p:cNvPr id="59" name="Shape 57"/>
          <p:cNvSpPr/>
          <p:nvPr/>
        </p:nvSpPr>
        <p:spPr>
          <a:xfrm>
            <a:off x="5230368" y="1143000"/>
            <a:ext cx="137160" cy="137160"/>
          </a:xfrm>
          <a:prstGeom prst="ellipse">
            <a:avLst/>
          </a:prstGeom>
          <a:solidFill>
            <a:srgbClr val="00C4E8"/>
          </a:solidFill>
          <a:ln w="12700">
            <a:solidFill>
              <a:srgbClr val="00C4E8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486400" y="109728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workflows need robust error handling</a:t>
            </a:r>
            <a:endParaRPr lang="en-US" sz="1150" dirty="0"/>
          </a:p>
        </p:txBody>
      </p:sp>
      <p:sp>
        <p:nvSpPr>
          <p:cNvPr id="61" name="Shape 59"/>
          <p:cNvSpPr/>
          <p:nvPr/>
        </p:nvSpPr>
        <p:spPr>
          <a:xfrm>
            <a:off x="5230368" y="1965960"/>
            <a:ext cx="137160" cy="137160"/>
          </a:xfrm>
          <a:prstGeom prst="ellipse">
            <a:avLst/>
          </a:prstGeom>
          <a:solidFill>
            <a:srgbClr val="00C4E8"/>
          </a:solidFill>
          <a:ln w="12700">
            <a:solidFill>
              <a:srgbClr val="00C4E8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486400" y="192024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 planning is essential at scale</a:t>
            </a:r>
            <a:endParaRPr lang="en-US" sz="1150" dirty="0"/>
          </a:p>
        </p:txBody>
      </p:sp>
      <p:sp>
        <p:nvSpPr>
          <p:cNvPr id="63" name="Shape 61"/>
          <p:cNvSpPr/>
          <p:nvPr/>
        </p:nvSpPr>
        <p:spPr>
          <a:xfrm>
            <a:off x="5230368" y="2788920"/>
            <a:ext cx="137160" cy="137160"/>
          </a:xfrm>
          <a:prstGeom prst="ellipse">
            <a:avLst/>
          </a:prstGeom>
          <a:solidFill>
            <a:srgbClr val="00C4E8"/>
          </a:solidFill>
          <a:ln w="12700">
            <a:solidFill>
              <a:srgbClr val="00C4E8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486400" y="274320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Iterative testing reveals edge cases early</a:t>
            </a:r>
            <a:endParaRPr lang="en-US" sz="1150" dirty="0"/>
          </a:p>
        </p:txBody>
      </p:sp>
      <p:sp>
        <p:nvSpPr>
          <p:cNvPr id="65" name="Shape 63"/>
          <p:cNvSpPr/>
          <p:nvPr/>
        </p:nvSpPr>
        <p:spPr>
          <a:xfrm>
            <a:off x="5230368" y="3611880"/>
            <a:ext cx="137160" cy="137160"/>
          </a:xfrm>
          <a:prstGeom prst="ellipse">
            <a:avLst/>
          </a:prstGeom>
          <a:solidFill>
            <a:srgbClr val="00C4E8"/>
          </a:solidFill>
          <a:ln w="12700">
            <a:solidFill>
              <a:srgbClr val="00C4E8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486400" y="356616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n8n design eases debugging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26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0A3D6B">
              <a:alpha val="60000"/>
            </a:srgbClr>
          </a:solidFill>
          <a:ln w="12700">
            <a:solidFill>
              <a:srgbClr val="0A3D6B">
                <a:alpha val="6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1828800"/>
            <a:ext cx="4572000" cy="4572000"/>
          </a:xfrm>
          <a:prstGeom prst="ellipse">
            <a:avLst/>
          </a:prstGeom>
          <a:solidFill>
            <a:srgbClr val="0A3D6B">
              <a:alpha val="60000"/>
            </a:srgbClr>
          </a:solidFill>
          <a:ln w="12700">
            <a:solidFill>
              <a:srgbClr val="0A3D6B">
                <a:alpha val="6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274320"/>
            <a:ext cx="7315200" cy="64008"/>
          </a:xfrm>
          <a:prstGeom prst="rect">
            <a:avLst/>
          </a:prstGeom>
          <a:solidFill>
            <a:srgbClr val="00C4E8"/>
          </a:solidFill>
          <a:ln w="12700">
            <a:solidFill>
              <a:srgbClr val="00C4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45720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0C4E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Conclusion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914400" y="13716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automation improves recruitment efficiency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914400" y="2194560"/>
            <a:ext cx="3474720" cy="914400"/>
          </a:xfrm>
          <a:prstGeom prst="rect">
            <a:avLst/>
          </a:prstGeom>
          <a:solidFill>
            <a:srgbClr val="0D2F52"/>
          </a:solidFill>
          <a:ln w="12700">
            <a:solidFill>
              <a:srgbClr val="00C4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219456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Automated screening reduces time-to-hire dramatically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2194560"/>
            <a:ext cx="3474720" cy="914400"/>
          </a:xfrm>
          <a:prstGeom prst="rect">
            <a:avLst/>
          </a:prstGeom>
          <a:solidFill>
            <a:srgbClr val="0D2F52"/>
          </a:solidFill>
          <a:ln w="12700">
            <a:solidFill>
              <a:srgbClr val="00C4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00600" y="219456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Consistent AI scoring eliminates unconscious bias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14400" y="3383280"/>
            <a:ext cx="3474720" cy="914400"/>
          </a:xfrm>
          <a:prstGeom prst="rect">
            <a:avLst/>
          </a:prstGeom>
          <a:solidFill>
            <a:srgbClr val="0D2F52"/>
          </a:solidFill>
          <a:ln w="12700">
            <a:solidFill>
              <a:srgbClr val="00C4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338328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Structured data pipeline enables analytics &amp; reporting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63440" y="3383280"/>
            <a:ext cx="3474720" cy="914400"/>
          </a:xfrm>
          <a:prstGeom prst="rect">
            <a:avLst/>
          </a:prstGeom>
          <a:solidFill>
            <a:srgbClr val="0D2F52"/>
          </a:solidFill>
          <a:ln w="12700">
            <a:solidFill>
              <a:srgbClr val="00C4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0600" y="338328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n8n integration bridges AI tools with business workflows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14400" y="4754880"/>
            <a:ext cx="7315200" cy="64008"/>
          </a:xfrm>
          <a:prstGeom prst="rect">
            <a:avLst/>
          </a:prstGeom>
          <a:solidFill>
            <a:srgbClr val="00C4E8"/>
          </a:solidFill>
          <a:ln w="12700">
            <a:solidFill>
              <a:srgbClr val="00C4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48463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SCTP Agentic AI Capstone  ·  Sylvester Ang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2026-05-03T08:12:04Z</dcterms:created>
  <dcterms:modified xsi:type="dcterms:W3CDTF">2026-05-03T08:12:04Z</dcterms:modified>
</cp:coreProperties>
</file>