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FDEABF">
              <a:alpha val="40000"/>
            </a:srgbClr>
          </a:solidFill>
          <a:ln w="12700">
            <a:solidFill>
              <a:srgbClr val="FDEABF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9144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Accounting</a:t>
            </a:r>
            <a:endParaRPr lang="en-US" sz="4200" dirty="0"/>
          </a:p>
        </p:txBody>
      </p:sp>
      <p:sp>
        <p:nvSpPr>
          <p:cNvPr id="36" name="Text 34"/>
          <p:cNvSpPr/>
          <p:nvPr/>
        </p:nvSpPr>
        <p:spPr>
          <a:xfrm>
            <a:off x="457200" y="1719072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Assistant Agent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457200" y="2468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(n8n)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2286000" cy="36576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SCTP Agentic AI Capstone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3520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Sylvester Ang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35040" y="1097280"/>
            <a:ext cx="2103120" cy="2103120"/>
          </a:xfrm>
          <a:prstGeom prst="ellipse">
            <a:avLst/>
          </a:prstGeom>
          <a:solidFill>
            <a:srgbClr val="F4A732">
              <a:alpha val="20000"/>
            </a:srgbClr>
          </a:solidFill>
          <a:ln w="12700">
            <a:solidFill>
              <a:srgbClr val="F4A732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2801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A6A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</a:t>
            </a:r>
            <a:endParaRPr lang="en-US" sz="14000" dirty="0"/>
          </a:p>
        </p:txBody>
      </p:sp>
      <p:sp>
        <p:nvSpPr>
          <p:cNvPr id="43" name="Text 41"/>
          <p:cNvSpPr/>
          <p:nvPr/>
        </p:nvSpPr>
        <p:spPr>
          <a:xfrm>
            <a:off x="516636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E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 ·  Groq LLM  ·  PDF Extractor  ·  Google Sheets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960120"/>
            <a:ext cx="1828800" cy="4572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1143000"/>
            <a:ext cx="42976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7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1143000"/>
            <a:ext cx="73152" cy="13716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" y="1216152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extraction of financial data from bank statements using AI and n8n workflows — transforming manual bookkeeping into intelligent, streamlined operations for SMEs.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457200" y="2834640"/>
            <a:ext cx="1280160" cy="173736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5720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E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bank statements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920240" y="2834640"/>
            <a:ext cx="1280160" cy="17373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92024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92024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parsing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83280" y="2834640"/>
            <a:ext cx="1280160" cy="173736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338328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3383280" y="35844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DE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Sheets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Value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5230368" y="1143000"/>
            <a:ext cx="164592" cy="164592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32120" y="10972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data entry errors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230368" y="1920240"/>
            <a:ext cx="164592" cy="164592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2120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statements in seconds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230368" y="2697480"/>
            <a:ext cx="164592" cy="164592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32120" y="265176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structured P&amp;L data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230368" y="3474720"/>
            <a:ext cx="164592" cy="164592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3429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multiple clients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Agent Does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457200" y="10515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1051560"/>
            <a:ext cx="64008" cy="10515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bank statement via webhook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697480" y="105156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697480" y="1051560"/>
            <a:ext cx="64008" cy="10515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1124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834640" y="1344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2834640" y="1645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parsed from PDF document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57200" y="228600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286000"/>
            <a:ext cx="64008" cy="10515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9436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extracts financial data fields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697480" y="228600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697480" y="2286000"/>
            <a:ext cx="64008" cy="10515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0" y="23591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834640" y="2578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834640" y="2880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organised JSON format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52044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57200" y="3520440"/>
            <a:ext cx="64008" cy="10515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4360" y="3813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943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to Google Sheets automatically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2697480" y="3520440"/>
            <a:ext cx="20574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2697480" y="3520440"/>
            <a:ext cx="64008" cy="105156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34640" y="3593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834640" y="3813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283464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statement ready for review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212080" y="3657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Capabilities</a:t>
            </a:r>
            <a:endParaRPr lang="en-US" sz="2600" dirty="0"/>
          </a:p>
        </p:txBody>
      </p:sp>
      <p:sp>
        <p:nvSpPr>
          <p:cNvPr id="67" name="Shape 65"/>
          <p:cNvSpPr/>
          <p:nvPr/>
        </p:nvSpPr>
        <p:spPr>
          <a:xfrm>
            <a:off x="5577840" y="1554480"/>
            <a:ext cx="2560320" cy="41148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15000" y="16093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Webhook Trigger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577840" y="2121408"/>
            <a:ext cx="2560320" cy="411480"/>
          </a:xfrm>
          <a:prstGeom prst="rect">
            <a:avLst/>
          </a:prstGeom>
          <a:solidFill>
            <a:srgbClr val="0C4F89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15000" y="2176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PDF Text Extract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577840" y="2688336"/>
            <a:ext cx="2560320" cy="41148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15000" y="2743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Groq AI Parse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5577840" y="3255264"/>
            <a:ext cx="2560320" cy="411480"/>
          </a:xfrm>
          <a:prstGeom prst="rect">
            <a:avLst/>
          </a:prstGeom>
          <a:solidFill>
            <a:srgbClr val="0C4F89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1500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JSON Structure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577840" y="3822192"/>
            <a:ext cx="2560320" cy="411480"/>
          </a:xfrm>
          <a:prstGeom prst="rect">
            <a:avLst/>
          </a:prstGeom>
          <a:solidFill>
            <a:srgbClr val="0A3D6B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15000" y="38770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7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Sheets Upload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577840" y="4389120"/>
            <a:ext cx="2560320" cy="411480"/>
          </a:xfrm>
          <a:prstGeom prst="rect">
            <a:avLst/>
          </a:prstGeom>
          <a:solidFill>
            <a:srgbClr val="0C4F89"/>
          </a:solidFill>
          <a:ln w="12700">
            <a:solidFill>
              <a:srgbClr val="0A3D6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15000" y="44439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P&amp;L Output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Workflow Overview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365760" y="795528"/>
            <a:ext cx="4526280" cy="3383280"/>
          </a:xfrm>
          <a:prstGeom prst="rect">
            <a:avLst/>
          </a:prstGeom>
          <a:solidFill>
            <a:srgbClr val="D0EAF5"/>
          </a:solidFill>
          <a:ln w="19050">
            <a:solidFill>
              <a:srgbClr val="F4A732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4434840" cy="32918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11480" y="42245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Extract Text → AI Agent → Append Row (Google Sheets)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Summary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5230368" y="100584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960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receives PDF bank statement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230368" y="164592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extracted from PDF document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5230368" y="228600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identifies financial fields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230368" y="292608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structured into clean JSON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230368" y="356616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written to Google Sheets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365760" y="795528"/>
            <a:ext cx="4526280" cy="3291840"/>
          </a:xfrm>
          <a:prstGeom prst="rect">
            <a:avLst/>
          </a:prstGeom>
          <a:solidFill>
            <a:srgbClr val="D0EAF5"/>
          </a:solidFill>
          <a:ln w="19050">
            <a:solidFill>
              <a:srgbClr val="F4A732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4434840" cy="32004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11480" y="41330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listens for PDF bank statement upload via POST request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 Details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bank statement (binary data)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via HTTP POST to n8n webhook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URL: /upload-bank-statement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the full extraction pipeline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file handling required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365760" y="795528"/>
            <a:ext cx="4526280" cy="3291840"/>
          </a:xfrm>
          <a:prstGeom prst="rect">
            <a:avLst/>
          </a:prstGeom>
          <a:solidFill>
            <a:srgbClr val="D0EAF5"/>
          </a:solidFill>
          <a:ln w="19050">
            <a:solidFill>
              <a:srgbClr val="F4A732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4434840" cy="32004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11480" y="41330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node → AI Agent node — PDF → Text → Structured JSON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Processing Steps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node reads PDF binary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raw text from bank statement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receives extracted text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identifies financial fields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Parser formats JSON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Logic &amp; Output Structure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365760" y="795528"/>
            <a:ext cx="4526280" cy="2834640"/>
          </a:xfrm>
          <a:prstGeom prst="rect">
            <a:avLst/>
          </a:prstGeom>
          <a:solidFill>
            <a:srgbClr val="D0EAF5"/>
          </a:solidFill>
          <a:ln w="19050">
            <a:solidFill>
              <a:srgbClr val="F4A732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4434840" cy="2743200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411480" y="3703320"/>
            <a:ext cx="4434840" cy="1097280"/>
          </a:xfrm>
          <a:prstGeom prst="rect">
            <a:avLst/>
          </a:prstGeom>
          <a:solidFill>
            <a:srgbClr val="0D1F33"/>
          </a:solidFill>
          <a:ln w="19050">
            <a:solidFill>
              <a:srgbClr val="F4A73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48640" y="3767328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7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"date":"YYYY-MM-DD", "revenue":number, "cost_of_goods_sold":number, "expenses":number, "profit":number }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Design</a:t>
            </a:r>
            <a:endParaRPr lang="en-US" sz="2000" dirty="0"/>
          </a:p>
        </p:txBody>
      </p:sp>
      <p:sp>
        <p:nvSpPr>
          <p:cNvPr id="41" name="Shape 38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financial data from text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ONLY valid JSON format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specific field names enforced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default to 0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Chat Model + Structured Parser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01168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365760" y="795528"/>
            <a:ext cx="4526280" cy="2697480"/>
          </a:xfrm>
          <a:prstGeom prst="rect">
            <a:avLst/>
          </a:prstGeom>
          <a:solidFill>
            <a:srgbClr val="D0EAF5"/>
          </a:solidFill>
          <a:ln w="19050">
            <a:solidFill>
              <a:srgbClr val="F4A732"/>
            </a:solidFill>
            <a:prstDash val="solid"/>
          </a:ln>
        </p:spPr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41248"/>
            <a:ext cx="4434840" cy="26060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411480" y="353872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automatically stored in Google Sheets P&amp;L statement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11480" y="4041648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4041648"/>
            <a:ext cx="2057400" cy="64008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4133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42" name="Text 39"/>
          <p:cNvSpPr/>
          <p:nvPr/>
        </p:nvSpPr>
        <p:spPr>
          <a:xfrm>
            <a:off x="502920" y="4636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entry time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697480" y="4041648"/>
            <a:ext cx="2057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697480" y="4041648"/>
            <a:ext cx="2057400" cy="64008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697480" y="41330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46" name="Text 43"/>
          <p:cNvSpPr/>
          <p:nvPr/>
        </p:nvSpPr>
        <p:spPr>
          <a:xfrm>
            <a:off x="2788920" y="463600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errors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 Details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486400" y="10972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Revenue, COGS, Expenses, Profit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5230368" y="187452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486400" y="18288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Appended as new row in Google Sheets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5230368" y="260604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486400" y="256032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 tab updated automatically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5230368" y="333756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486400" y="3291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JSON also stored in Data tab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5230368" y="406908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486400" y="40233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structured records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9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 Used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457200" y="109728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" y="1097280"/>
            <a:ext cx="64008" cy="118872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1280160"/>
            <a:ext cx="320040" cy="32004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05840" y="1207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05840" y="1600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 Engine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697480" y="109728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697480" y="1097280"/>
            <a:ext cx="64008" cy="1188720"/>
          </a:xfrm>
          <a:prstGeom prst="rect">
            <a:avLst/>
          </a:prstGeom>
          <a:solidFill>
            <a:srgbClr val="0A6EBD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34640" y="1280160"/>
            <a:ext cx="320040" cy="320040"/>
          </a:xfrm>
          <a:prstGeom prst="rect">
            <a:avLst/>
          </a:prstGeom>
          <a:solidFill>
            <a:srgbClr val="0A6EBD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46120" y="12070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/ LLM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246120" y="16002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Financial Data Extraction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251460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2514600"/>
            <a:ext cx="64008" cy="1188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" y="2624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Extractor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0584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 Text Parsing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697480" y="2514600"/>
            <a:ext cx="2057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2697480" y="2514600"/>
            <a:ext cx="64008" cy="118872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834640" y="2697480"/>
            <a:ext cx="320040" cy="320040"/>
          </a:xfrm>
          <a:prstGeom prst="rect">
            <a:avLst/>
          </a:prstGeom>
          <a:solidFill>
            <a:srgbClr val="1DA462"/>
          </a:solidFill>
          <a:ln w="12700">
            <a:solidFill>
              <a:srgbClr val="1DA46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46120" y="2624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246120" y="30175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Financial Storage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212080" y="1051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tools working together to automate the full financial data pipeline from raw PDF to structured Sheets.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760720" y="2468880"/>
            <a:ext cx="2011680" cy="2011680"/>
          </a:xfrm>
          <a:prstGeom prst="ellipse">
            <a:avLst/>
          </a:prstGeom>
          <a:solidFill>
            <a:srgbClr val="F4A732">
              <a:alpha val="90000"/>
            </a:srgbClr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60720" y="2514600"/>
            <a:ext cx="2011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26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Integrated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2647"/>
          </a:solidFill>
          <a:ln w="12700">
            <a:solidFill>
              <a:srgbClr val="0A26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64008" cy="5143500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9224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0" y="2743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1887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9224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21031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8660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0175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788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931920"/>
            <a:ext cx="54864" cy="54864"/>
          </a:xfrm>
          <a:prstGeom prst="ellipse">
            <a:avLst/>
          </a:prstGeom>
          <a:solidFill>
            <a:srgbClr val="1E5080"/>
          </a:solidFill>
          <a:ln w="12700">
            <a:solidFill>
              <a:srgbClr val="1E50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A99"/>
                </a:solidFill>
              </a:rPr>
              <a:t>10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274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Solutions</a:t>
            </a:r>
            <a:endParaRPr lang="en-US" sz="2800" dirty="0"/>
          </a:p>
        </p:txBody>
      </p:sp>
      <p:sp>
        <p:nvSpPr>
          <p:cNvPr id="36" name="Shape 34"/>
          <p:cNvSpPr/>
          <p:nvPr/>
        </p:nvSpPr>
        <p:spPr>
          <a:xfrm>
            <a:off x="457200" y="1097280"/>
            <a:ext cx="1920240" cy="1554480"/>
          </a:xfrm>
          <a:prstGeom prst="rect">
            <a:avLst/>
          </a:prstGeom>
          <a:solidFill>
            <a:srgbClr val="FDF0F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10972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PDF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190195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 have inconsistent layouts, making text extraction unreliable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23160" y="1828800"/>
            <a:ext cx="457200" cy="64008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26080" y="1097280"/>
            <a:ext cx="1828800" cy="1554480"/>
          </a:xfrm>
          <a:prstGeom prst="rect">
            <a:avLst/>
          </a:prstGeom>
          <a:solidFill>
            <a:srgbClr val="EA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926080" y="1097280"/>
            <a:ext cx="1828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2608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017520" y="1554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Parser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017520" y="190195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AI prompt forces structured JSON output regardless of input format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017520"/>
            <a:ext cx="1920240" cy="1554480"/>
          </a:xfrm>
          <a:prstGeom prst="rect">
            <a:avLst/>
          </a:prstGeom>
          <a:solidFill>
            <a:srgbClr val="FDF0F0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3017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Challenge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864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48640" y="3822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fields named differently across various bank statement formats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423160" y="3749040"/>
            <a:ext cx="457200" cy="64008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26080" y="3017520"/>
            <a:ext cx="1828800" cy="1554480"/>
          </a:xfrm>
          <a:prstGeom prst="rect">
            <a:avLst/>
          </a:prstGeom>
          <a:solidFill>
            <a:srgbClr val="EAF8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26080" y="3017520"/>
            <a:ext cx="1828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26080" y="3017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017520" y="3474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AI Prompt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017520" y="382219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defines exact field names and types — AI normalises all variations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212080" y="457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Learnings</a:t>
            </a:r>
            <a:endParaRPr lang="en-US" sz="2000" dirty="0"/>
          </a:p>
        </p:txBody>
      </p:sp>
      <p:sp>
        <p:nvSpPr>
          <p:cNvPr id="59" name="Shape 57"/>
          <p:cNvSpPr/>
          <p:nvPr/>
        </p:nvSpPr>
        <p:spPr>
          <a:xfrm>
            <a:off x="5230368" y="114300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0" y="10972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critical for data extraction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230368" y="196596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saves downstream processing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230368" y="278892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PDFs require defensive parsing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230368" y="3611880"/>
            <a:ext cx="137160" cy="137160"/>
          </a:xfrm>
          <a:prstGeom prst="ellipse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0" y="3566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simplifies future updates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6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3D6B">
              <a:alpha val="60000"/>
            </a:srgbClr>
          </a:solidFill>
          <a:ln w="12700">
            <a:solidFill>
              <a:srgbClr val="0A3D6B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0A3D6B">
              <a:alpha val="60000"/>
            </a:srgbClr>
          </a:solidFill>
          <a:ln w="12700">
            <a:solidFill>
              <a:srgbClr val="0A3D6B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4320"/>
            <a:ext cx="7315200" cy="64008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A7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improves efficiency &amp; accuracy in financial workflows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19456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Turns manual bookkeeping into automated intelligence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219456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21945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Consistent JSON structure enables reliable P&amp;L reports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38328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n8n orchestrates the full PDF-to-Sheets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383280"/>
            <a:ext cx="3474720" cy="914400"/>
          </a:xfrm>
          <a:prstGeom prst="rect">
            <a:avLst/>
          </a:prstGeom>
          <a:solidFill>
            <a:srgbClr val="0D2F5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383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Strict AI prompting ensures financial data accuracy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754880"/>
            <a:ext cx="7315200" cy="64008"/>
          </a:xfrm>
          <a:prstGeom prst="rect">
            <a:avLst/>
          </a:prstGeom>
          <a:solidFill>
            <a:srgbClr val="F4A732"/>
          </a:solidFill>
          <a:ln w="12700">
            <a:solidFill>
              <a:srgbClr val="F4A7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46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SCTP Agentic AI Capstone  ·  Sylvester Ang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2026-05-03T08:04:35Z</dcterms:created>
  <dcterms:modified xsi:type="dcterms:W3CDTF">2026-05-03T08:04:35Z</dcterms:modified>
</cp:coreProperties>
</file>